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600000" cy="396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133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EB1CD"/>
                </a:solidFill>
                <a:latin typeface="Noto Sans CJK TC"/>
              </a:rPr>
              <a:t>TANET 2026  |  PROJECT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296000"/>
            <a:ext cx="15480000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4EFE3"/>
                </a:solidFill>
                <a:latin typeface="Noto Sans CJK TC"/>
              </a:rPr>
              <a:t>異質 GPU + MPS
讓 Slurm 學會選工作、選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71999"/>
            <a:ext cx="14400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7BBBE"/>
                </a:solidFill>
                <a:latin typeface="Noto Sans CJK TC"/>
              </a:rPr>
              <a:t>基於 Slurm 與 Kubernetes 架構下 AI 伺服器
GPU 工作負載智慧排程技術之研究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5184000"/>
            <a:ext cx="1332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C848D"/>
                </a:solidFill>
                <a:latin typeface="Noto Sans CJK TC"/>
              </a:rPr>
              <a:t>ABC · DEF  ｜ 國立 XX 大學</a:t>
            </a:r>
          </a:p>
        </p:txBody>
      </p:sp>
      <p:pic>
        <p:nvPicPr>
          <p:cNvPr id="6" name="Picture 5" descr="poster-hero-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0" y="720000"/>
            <a:ext cx="13320000" cy="54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80000" y="6443999"/>
            <a:ext cx="28440000" cy="792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7200000"/>
            <a:ext cx="828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4EFE3"/>
                </a:solidFill>
                <a:latin typeface="Noto Sans CJK TC"/>
              </a:rPr>
              <a:t>為什麼要做？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7866000"/>
            <a:ext cx="1007999" cy="648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7973999"/>
            <a:ext cx="8280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BBE"/>
                </a:solidFill>
                <a:latin typeface="Noto Sans CJK TC"/>
              </a:rPr>
              <a:t>問題 → 缺口 → 目標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0000" y="8352000"/>
            <a:ext cx="8820000" cy="3311999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1F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8640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EB1CD"/>
                </a:solidFill>
                <a:latin typeface="Noto Sans CJK TC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9000000"/>
            <a:ext cx="7992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4EFE3"/>
                </a:solidFill>
                <a:latin typeface="Noto Sans CJK TC"/>
              </a:rPr>
              <a:t>AI 工作同時提交，
GPU 變成共享且競爭的資源。</a:t>
            </a:r>
          </a:p>
        </p:txBody>
      </p:sp>
      <p:sp>
        <p:nvSpPr>
          <p:cNvPr id="14" name="Oval 13"/>
          <p:cNvSpPr/>
          <p:nvPr/>
        </p:nvSpPr>
        <p:spPr>
          <a:xfrm>
            <a:off x="1440000" y="10216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4000" y="10080000"/>
            <a:ext cx="7614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GPU 世代不同，效能與記憶體不對稱</a:t>
            </a:r>
          </a:p>
        </p:txBody>
      </p:sp>
      <p:sp>
        <p:nvSpPr>
          <p:cNvPr id="16" name="Oval 15"/>
          <p:cNvSpPr/>
          <p:nvPr/>
        </p:nvSpPr>
        <p:spPr>
          <a:xfrm>
            <a:off x="1440000" y="10720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4000" y="10584000"/>
            <a:ext cx="7614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MPS 配額會改變共置與完成時間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20000" y="8352000"/>
            <a:ext cx="8820000" cy="3311999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1F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80000" y="8640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EB1CD"/>
                </a:solidFill>
                <a:latin typeface="Noto Sans CJK TC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0000" y="9000000"/>
            <a:ext cx="7920000" cy="10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4EFE3"/>
                </a:solidFill>
                <a:latin typeface="Noto Sans CJK TC"/>
              </a:rPr>
              <a:t>傳統 Slurm 規則
難以同時看見這些狀態。</a:t>
            </a:r>
          </a:p>
        </p:txBody>
      </p:sp>
      <p:sp>
        <p:nvSpPr>
          <p:cNvPr id="21" name="Oval 20"/>
          <p:cNvSpPr/>
          <p:nvPr/>
        </p:nvSpPr>
        <p:spPr>
          <a:xfrm>
            <a:off x="10980000" y="10252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14000" y="10116000"/>
            <a:ext cx="7614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FCFS / Backfill 不學習長期效果</a:t>
            </a:r>
          </a:p>
        </p:txBody>
      </p:sp>
      <p:sp>
        <p:nvSpPr>
          <p:cNvPr id="23" name="Oval 22"/>
          <p:cNvSpPr/>
          <p:nvPr/>
        </p:nvSpPr>
        <p:spPr>
          <a:xfrm>
            <a:off x="10980000" y="10756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14000" y="10620000"/>
            <a:ext cx="7614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既有方法多聚焦單一 GPU 或模擬環境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60000" y="8352000"/>
            <a:ext cx="9360000" cy="3311999"/>
          </a:xfrm>
          <a:prstGeom prst="roundRect">
            <a:avLst/>
          </a:prstGeom>
          <a:solidFill>
            <a:srgbClr val="2D4C69"/>
          </a:solidFill>
          <a:ln w="10160">
            <a:solidFill>
              <a:srgbClr val="2D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20000" y="8640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EFE3"/>
                </a:solidFill>
                <a:latin typeface="Noto Sans CJK TC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20000" y="9000000"/>
            <a:ext cx="8460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4EFE3"/>
                </a:solidFill>
                <a:latin typeface="Noto Sans CJK TC"/>
              </a:rPr>
              <a:t>在真實 Slurm 路徑中，
聯合決定工作與 GPU。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20000" y="10332000"/>
            <a:ext cx="8424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EB1CD"/>
                </a:solidFill>
                <a:latin typeface="Noto Sans CJK TC"/>
              </a:rPr>
              <a:t>輸出 GPU placement 與
25 / 50 / 75 / 100% MPS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000" y="12347999"/>
            <a:ext cx="1728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4EFE3"/>
                </a:solidFill>
                <a:latin typeface="Noto Sans CJK TC"/>
              </a:rPr>
              <a:t>一條可落地的排程路徑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" y="13014000"/>
            <a:ext cx="1007999" cy="648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3121999"/>
            <a:ext cx="17280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BBE"/>
                </a:solidFill>
                <a:latin typeface="Noto Sans CJK TC"/>
              </a:rPr>
              <a:t>K3s 負責部署與生命週期；Slurm + DRL 負責決策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32000" y="13950000"/>
            <a:ext cx="486000" cy="486000"/>
          </a:xfrm>
          <a:prstGeom prst="ellipse">
            <a:avLst/>
          </a:prstGeom>
          <a:solidFill>
            <a:srgbClr val="8EB1CD"/>
          </a:solidFill>
          <a:ln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3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5999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Job Queue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5999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工作到達
前 16 個 pending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92000" y="14850000"/>
            <a:ext cx="342000" cy="0"/>
          </a:xfrm>
          <a:prstGeom prst="line">
            <a:avLst/>
          </a:prstGeom>
          <a:ln w="22860">
            <a:solidFill>
              <a:srgbClr val="8E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76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12000" y="13950000"/>
            <a:ext cx="486000" cy="4860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1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6000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Slurm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6000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priority
排序與提交路徑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72000" y="14850000"/>
            <a:ext cx="342000" cy="0"/>
          </a:xfrm>
          <a:prstGeom prst="line">
            <a:avLst/>
          </a:prstGeom>
          <a:ln w="22860">
            <a:solidFill>
              <a:srgbClr val="8E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44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92000" y="13950000"/>
            <a:ext cx="486000" cy="486000"/>
          </a:xfrm>
          <a:prstGeom prst="ellipse">
            <a:avLst/>
          </a:prstGeom>
          <a:solidFill>
            <a:srgbClr val="8EB1CD"/>
          </a:solidFill>
          <a:ln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9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86000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DRL Scheduler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86000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SAC / RDSAC / RLPD
action mask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4652000" y="14850000"/>
            <a:ext cx="342000" cy="0"/>
          </a:xfrm>
          <a:prstGeom prst="line">
            <a:avLst/>
          </a:prstGeom>
          <a:ln w="22860">
            <a:solidFill>
              <a:srgbClr val="8E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512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372000" y="13950000"/>
            <a:ext cx="486000" cy="4860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37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966000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Placement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966000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選工作 × 選 GPU
MPS fraction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9332000" y="14850000"/>
            <a:ext cx="342000" cy="0"/>
          </a:xfrm>
          <a:prstGeom prst="line">
            <a:avLst/>
          </a:prstGeom>
          <a:ln w="22860">
            <a:solidFill>
              <a:srgbClr val="8E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980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0052000" y="13950000"/>
            <a:ext cx="486000" cy="486000"/>
          </a:xfrm>
          <a:prstGeom prst="ellipse">
            <a:avLst/>
          </a:prstGeom>
          <a:solidFill>
            <a:srgbClr val="8EB1CD"/>
          </a:solidFill>
          <a:ln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05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646000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GPU Workers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646000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RTX4070 + RTX3080
25–100% MPS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4012000" y="14850000"/>
            <a:ext cx="342000" cy="0"/>
          </a:xfrm>
          <a:prstGeom prst="line">
            <a:avLst/>
          </a:prstGeom>
          <a:ln w="22860">
            <a:solidFill>
              <a:srgbClr val="8E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4480000" y="13752000"/>
            <a:ext cx="4212000" cy="2196000"/>
          </a:xfrm>
          <a:prstGeom prst="roundRect">
            <a:avLst/>
          </a:prstGeom>
          <a:solidFill>
            <a:srgbClr val="2D333A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732000" y="13950000"/>
            <a:ext cx="486000" cy="4860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732000" y="13960800"/>
            <a:ext cx="48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4282D"/>
                </a:solidFill>
                <a:latin typeface="Noto Sans CJK TC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325999" y="13939200"/>
            <a:ext cx="316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EFE3"/>
                </a:solidFill>
                <a:latin typeface="Noto Sans CJK TC"/>
              </a:rPr>
              <a:t>Monitor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325999" y="14418000"/>
            <a:ext cx="3167999" cy="142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JCT / utilization
replay buffer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0000" y="16272000"/>
            <a:ext cx="28440000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4EFE3"/>
                </a:solidFill>
                <a:latin typeface="Noto Sans CJK TC"/>
              </a:rPr>
              <a:t>Fail-safe：決策逾時、不可行或低信心時，回退啟發式，不阻塞 Slurm。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0000" y="17280000"/>
            <a:ext cx="1512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4EFE3"/>
                </a:solidFill>
                <a:latin typeface="Noto Sans CJK TC"/>
              </a:rPr>
              <a:t>實作成果與量測結果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0000" y="17946000"/>
            <a:ext cx="1007999" cy="648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0000" y="18054000"/>
            <a:ext cx="15120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BBE"/>
                </a:solidFill>
                <a:latin typeface="Noto Sans CJK TC"/>
              </a:rPr>
              <a:t>把研究問題落到可部署、可觀察、可比較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0000" y="18468000"/>
            <a:ext cx="13860000" cy="10836000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1F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40000" y="18756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EB1CD"/>
                </a:solidFill>
                <a:latin typeface="Noto Sans CJK TC"/>
              </a:rPr>
              <a:t>TRAINING + RUNTIME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40000" y="19080000"/>
            <a:ext cx="127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4EFE3"/>
                </a:solidFill>
                <a:latin typeface="Noto Sans CJK TC"/>
              </a:rPr>
              <a:t>模擬預訓練 → 真實資料 → RLPD 微調</a:t>
            </a:r>
          </a:p>
        </p:txBody>
      </p:sp>
      <p:pic>
        <p:nvPicPr>
          <p:cNvPr id="74" name="Picture 73" descr="training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0" y="19800000"/>
            <a:ext cx="13032000" cy="468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440000" y="24624000"/>
            <a:ext cx="127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C848D"/>
                </a:solidFill>
                <a:latin typeface="Noto Sans CJK TC"/>
              </a:rPr>
              <a:t>SAC / RDSAC 的 reward 與 critic loss 收斂曲線</a:t>
            </a:r>
          </a:p>
        </p:txBody>
      </p:sp>
      <p:sp>
        <p:nvSpPr>
          <p:cNvPr id="76" name="Oval 75"/>
          <p:cNvSpPr/>
          <p:nvPr/>
        </p:nvSpPr>
        <p:spPr>
          <a:xfrm>
            <a:off x="1440000" y="25372799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74000" y="25235999"/>
            <a:ext cx="12546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Slurm submission path plugin：不修改 Slurm core</a:t>
            </a:r>
          </a:p>
        </p:txBody>
      </p:sp>
      <p:sp>
        <p:nvSpPr>
          <p:cNvPr id="78" name="Oval 77"/>
          <p:cNvSpPr/>
          <p:nvPr/>
        </p:nvSpPr>
        <p:spPr>
          <a:xfrm>
            <a:off x="1440000" y="26056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74000" y="25920000"/>
            <a:ext cx="12546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K3s、DRA、MPS、monitoring 以 Helm 部署</a:t>
            </a:r>
          </a:p>
        </p:txBody>
      </p:sp>
      <p:sp>
        <p:nvSpPr>
          <p:cNvPr id="80" name="Oval 79"/>
          <p:cNvSpPr/>
          <p:nvPr/>
        </p:nvSpPr>
        <p:spPr>
          <a:xfrm>
            <a:off x="1440000" y="26740800"/>
            <a:ext cx="115200" cy="115200"/>
          </a:xfrm>
          <a:prstGeom prst="ellipse">
            <a:avLst/>
          </a:prstGeom>
          <a:solidFill>
            <a:srgbClr val="84AB91"/>
          </a:solidFill>
          <a:ln>
            <a:solidFill>
              <a:srgbClr val="84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74000" y="26604000"/>
            <a:ext cx="12546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959 次決策：88% RL 主導，12% 低信心回退</a:t>
            </a:r>
          </a:p>
        </p:txBody>
      </p:sp>
      <p:sp>
        <p:nvSpPr>
          <p:cNvPr id="82" name="Oval 81"/>
          <p:cNvSpPr/>
          <p:nvPr/>
        </p:nvSpPr>
        <p:spPr>
          <a:xfrm>
            <a:off x="1440000" y="27424799"/>
            <a:ext cx="115200" cy="115200"/>
          </a:xfrm>
          <a:prstGeom prst="ellipse">
            <a:avLst/>
          </a:prstGeom>
          <a:solidFill>
            <a:srgbClr val="84AB91"/>
          </a:solidFill>
          <a:ln>
            <a:solidFill>
              <a:srgbClr val="84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74000" y="27288000"/>
            <a:ext cx="12546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P99 決策延遲 0.27 ms；最大 7.2 ms，無 150 ms 逾時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480000" y="18468000"/>
            <a:ext cx="14040000" cy="4752000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2D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804000" y="18702000"/>
            <a:ext cx="13392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EFE3"/>
                </a:solidFill>
                <a:latin typeface="Noto Sans CJK TC"/>
              </a:rPr>
              <a:t>Average JCT（越低越好）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804000" y="19152000"/>
            <a:ext cx="133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C848D"/>
                </a:solidFill>
                <a:latin typeface="Noto Sans CJK TC"/>
              </a:rPr>
              <a:t>mean，依 PDF Table 4；單位：秒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804000" y="195443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FCFS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396000" y="19609199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8396000" y="19609199"/>
            <a:ext cx="7989840" cy="151200"/>
          </a:xfrm>
          <a:prstGeom prst="roundRect">
            <a:avLst/>
          </a:prstGeom>
          <a:solidFill>
            <a:srgbClr val="7C848D"/>
          </a:solidFill>
          <a:ln w="10160">
            <a:solidFill>
              <a:srgbClr val="7C8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00" y="195372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137.0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804000" y="200411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Backfill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8396000" y="20105999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8396000" y="20105999"/>
            <a:ext cx="7943184" cy="151200"/>
          </a:xfrm>
          <a:prstGeom prst="roundRect">
            <a:avLst/>
          </a:prstGeom>
          <a:solidFill>
            <a:srgbClr val="7C848D"/>
          </a:solidFill>
          <a:ln w="10160">
            <a:solidFill>
              <a:srgbClr val="7C8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00" y="200340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136.2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804000" y="205380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Heuristic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8396000" y="206028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8396000" y="20602800"/>
            <a:ext cx="7301664" cy="151200"/>
          </a:xfrm>
          <a:prstGeom prst="roundRect">
            <a:avLst/>
          </a:prstGeom>
          <a:solidFill>
            <a:srgbClr val="C39D69"/>
          </a:solidFill>
          <a:ln w="10160">
            <a:solidFill>
              <a:srgbClr val="C3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00" y="205308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125.2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804000" y="210348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SAC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396000" y="210996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8396000" y="21099600"/>
            <a:ext cx="7359984" cy="151200"/>
          </a:xfrm>
          <a:prstGeom prst="round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00" y="210276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126.2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804000" y="215316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RDSAC-cvar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8396000" y="215964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8396000" y="21596400"/>
            <a:ext cx="7610760" cy="151200"/>
          </a:xfrm>
          <a:prstGeom prst="roundRect">
            <a:avLst/>
          </a:prstGeom>
          <a:solidFill>
            <a:srgbClr val="8EB1CD"/>
          </a:solidFill>
          <a:ln w="10160"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00" y="215244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130.5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804000" y="220284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RLPD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8396000" y="220932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8396000" y="22093200"/>
            <a:ext cx="6456024" cy="151200"/>
          </a:xfrm>
          <a:prstGeom prst="roundRect">
            <a:avLst/>
          </a:prstGeom>
          <a:solidFill>
            <a:srgbClr val="84AB91"/>
          </a:solidFill>
          <a:ln w="10160">
            <a:solidFill>
              <a:srgbClr val="84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00" y="220212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110.7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804000" y="22662000"/>
            <a:ext cx="198000" cy="720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5480000" y="23724000"/>
            <a:ext cx="14040000" cy="4752000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2D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804000" y="23958000"/>
            <a:ext cx="13392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EFE3"/>
                </a:solidFill>
                <a:latin typeface="Noto Sans CJK TC"/>
              </a:rPr>
              <a:t>P99 JCT（尾端代價）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804000" y="24408000"/>
            <a:ext cx="133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C848D"/>
                </a:solidFill>
                <a:latin typeface="Noto Sans CJK TC"/>
              </a:rPr>
              <a:t>mean，依 PDF Table 4；單位：秒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804000" y="248004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FCFS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8396000" y="248652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8396000" y="24865200"/>
            <a:ext cx="3431907" cy="151200"/>
          </a:xfrm>
          <a:prstGeom prst="roundRect">
            <a:avLst/>
          </a:prstGeom>
          <a:solidFill>
            <a:srgbClr val="7C848D"/>
          </a:solidFill>
          <a:ln w="10160">
            <a:solidFill>
              <a:srgbClr val="7C8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432000" y="247932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255.0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804000" y="25297200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Backfill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8396000" y="253620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8396000" y="25362000"/>
            <a:ext cx="3631092" cy="151200"/>
          </a:xfrm>
          <a:prstGeom prst="roundRect">
            <a:avLst/>
          </a:prstGeom>
          <a:solidFill>
            <a:srgbClr val="7C848D"/>
          </a:solidFill>
          <a:ln w="10160">
            <a:solidFill>
              <a:srgbClr val="7C8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00" y="252900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269.8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804000" y="257939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Heuristic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8396000" y="25858800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8396000" y="25858800"/>
            <a:ext cx="6966099" cy="151200"/>
          </a:xfrm>
          <a:prstGeom prst="roundRect">
            <a:avLst/>
          </a:prstGeom>
          <a:solidFill>
            <a:srgbClr val="C39D69"/>
          </a:solidFill>
          <a:ln w="10160">
            <a:solidFill>
              <a:srgbClr val="C3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7432000" y="257868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517.6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804000" y="262907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SAC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8396000" y="26355599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8396000" y="26355599"/>
            <a:ext cx="7624218" cy="151200"/>
          </a:xfrm>
          <a:prstGeom prst="round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00" y="26283599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566.5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804000" y="267875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RDSAC-cvar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8396000" y="26852399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8396000" y="26852399"/>
            <a:ext cx="7102030" cy="151200"/>
          </a:xfrm>
          <a:prstGeom prst="roundRect">
            <a:avLst/>
          </a:prstGeom>
          <a:solidFill>
            <a:srgbClr val="8EB1CD"/>
          </a:solidFill>
          <a:ln w="10160">
            <a:solidFill>
              <a:srgbClr val="8E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432000" y="26780399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527.7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804000" y="27284399"/>
            <a:ext cx="241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BBE"/>
                </a:solidFill>
                <a:latin typeface="Noto Sans CJK TC"/>
              </a:rPr>
              <a:t>RLPD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8396000" y="27349199"/>
            <a:ext cx="8748000" cy="151200"/>
          </a:xfrm>
          <a:prstGeom prst="roundRect">
            <a:avLst/>
          </a:prstGeom>
          <a:solidFill>
            <a:srgbClr val="3B434D"/>
          </a:solidFill>
          <a:ln w="10160">
            <a:solidFill>
              <a:srgbClr val="3B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8396000" y="27349199"/>
            <a:ext cx="6850356" cy="151200"/>
          </a:xfrm>
          <a:prstGeom prst="roundRect">
            <a:avLst/>
          </a:prstGeom>
          <a:solidFill>
            <a:srgbClr val="84AB91"/>
          </a:solidFill>
          <a:ln w="10160">
            <a:solidFill>
              <a:srgbClr val="84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7432000" y="27277199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4EFE3"/>
                </a:solidFill>
                <a:latin typeface="Noto Sans CJK TC"/>
              </a:rPr>
              <a:t>509.0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804000" y="27918000"/>
            <a:ext cx="198000" cy="720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04000" y="28728000"/>
            <a:ext cx="13392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EFE3"/>
                </a:solidFill>
                <a:latin typeface="Noto Sans CJK TC"/>
              </a:rPr>
              <a:t>RLPD 平均 JCT 最低；學習式策略的 P99 約為 FCFS / Backfill 的兩倍。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80000" y="29952000"/>
            <a:ext cx="1080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4EFE3"/>
                </a:solidFill>
                <a:latin typeface="Noto Sans CJK TC"/>
              </a:rPr>
              <a:t>研究完成了什麼？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80000" y="30618000"/>
            <a:ext cx="1007999" cy="64800"/>
          </a:xfrm>
          <a:prstGeom prst="rect">
            <a:avLst/>
          </a:prstGeom>
          <a:solidFill>
            <a:srgbClr val="5B8FBE"/>
          </a:solidFill>
          <a:ln w="10160"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80000" y="30726000"/>
            <a:ext cx="10800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BBE"/>
                </a:solidFill>
                <a:latin typeface="Noto Sans CJK TC"/>
              </a:rPr>
              <a:t>以實機結果回答研究問題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80000" y="31068000"/>
            <a:ext cx="8856000" cy="6696000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1F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40000" y="31355999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EB1CD"/>
                </a:solidFill>
                <a:latin typeface="Noto Sans CJK TC"/>
              </a:rPr>
              <a:t>TESTBED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40000" y="31680000"/>
            <a:ext cx="7848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EFE3"/>
                </a:solidFill>
                <a:latin typeface="Noto Sans CJK TC"/>
              </a:rPr>
              <a:t>2-node 異質 GPU</a:t>
            </a:r>
          </a:p>
        </p:txBody>
      </p:sp>
      <p:sp>
        <p:nvSpPr>
          <p:cNvPr id="147" name="Oval 146"/>
          <p:cNvSpPr/>
          <p:nvPr/>
        </p:nvSpPr>
        <p:spPr>
          <a:xfrm>
            <a:off x="1440000" y="32536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674000" y="32400000"/>
            <a:ext cx="757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RTX 4070｜64 GB RAM</a:t>
            </a:r>
          </a:p>
        </p:txBody>
      </p:sp>
      <p:sp>
        <p:nvSpPr>
          <p:cNvPr id="149" name="Oval 148"/>
          <p:cNvSpPr/>
          <p:nvPr/>
        </p:nvSpPr>
        <p:spPr>
          <a:xfrm>
            <a:off x="1440000" y="33148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674000" y="33012000"/>
            <a:ext cx="757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RTX 3080｜8 GB RAM</a:t>
            </a:r>
          </a:p>
        </p:txBody>
      </p:sp>
      <p:sp>
        <p:nvSpPr>
          <p:cNvPr id="151" name="Oval 150"/>
          <p:cNvSpPr/>
          <p:nvPr/>
        </p:nvSpPr>
        <p:spPr>
          <a:xfrm>
            <a:off x="1440000" y="33760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74000" y="33624000"/>
            <a:ext cx="757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BERT / ResNet / Qwen / cuBLAS</a:t>
            </a:r>
          </a:p>
        </p:txBody>
      </p:sp>
      <p:sp>
        <p:nvSpPr>
          <p:cNvPr id="153" name="Oval 152"/>
          <p:cNvSpPr/>
          <p:nvPr/>
        </p:nvSpPr>
        <p:spPr>
          <a:xfrm>
            <a:off x="1440000" y="34372800"/>
            <a:ext cx="115200" cy="115200"/>
          </a:xfrm>
          <a:prstGeom prst="ellipse">
            <a:avLst/>
          </a:prstGeom>
          <a:solidFill>
            <a:srgbClr val="5B8FBE"/>
          </a:solidFill>
          <a:ln>
            <a:solidFill>
              <a:srgbClr val="5B8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674000" y="34236000"/>
            <a:ext cx="757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125 jobs × 8 seeds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440000" y="35172000"/>
            <a:ext cx="7740000" cy="1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BBE"/>
                </a:solidFill>
                <a:latin typeface="Noto Sans CJK TC"/>
              </a:rPr>
              <a:t>K3s 1.34.6
Slurm 23.11.7
NVIDIA MPS 25–100%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800000" y="31068000"/>
            <a:ext cx="9000000" cy="6696000"/>
          </a:xfrm>
          <a:prstGeom prst="roundRect">
            <a:avLst/>
          </a:prstGeom>
          <a:solidFill>
            <a:srgbClr val="2D4C69"/>
          </a:solidFill>
          <a:ln w="10160">
            <a:solidFill>
              <a:srgbClr val="2D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160000" y="31355999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EFE3"/>
                </a:solidFill>
                <a:latin typeface="Noto Sans CJK TC"/>
              </a:rPr>
              <a:t>CONTRIBUTIONS</a:t>
            </a:r>
          </a:p>
        </p:txBody>
      </p:sp>
      <p:sp>
        <p:nvSpPr>
          <p:cNvPr id="158" name="Oval 157"/>
          <p:cNvSpPr/>
          <p:nvPr/>
        </p:nvSpPr>
        <p:spPr>
          <a:xfrm>
            <a:off x="11160000" y="32032799"/>
            <a:ext cx="115200" cy="115200"/>
          </a:xfrm>
          <a:prstGeom prst="ellipse">
            <a:avLst/>
          </a:prstGeom>
          <a:solidFill>
            <a:srgbClr val="F4EFE3"/>
          </a:solidFill>
          <a:ln>
            <a:solidFill>
              <a:srgbClr val="F4E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394000" y="31895999"/>
            <a:ext cx="775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聯合 action：job selection × GPU placement</a:t>
            </a:r>
          </a:p>
        </p:txBody>
      </p:sp>
      <p:sp>
        <p:nvSpPr>
          <p:cNvPr id="160" name="Oval 159"/>
          <p:cNvSpPr/>
          <p:nvPr/>
        </p:nvSpPr>
        <p:spPr>
          <a:xfrm>
            <a:off x="11160000" y="32932799"/>
            <a:ext cx="115200" cy="115200"/>
          </a:xfrm>
          <a:prstGeom prst="ellipse">
            <a:avLst/>
          </a:prstGeom>
          <a:solidFill>
            <a:srgbClr val="F4EFE3"/>
          </a:solidFill>
          <a:ln>
            <a:solidFill>
              <a:srgbClr val="F4E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394000" y="32795999"/>
            <a:ext cx="775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Fail-safe plugin：逾時即回退啟發式</a:t>
            </a:r>
          </a:p>
        </p:txBody>
      </p:sp>
      <p:sp>
        <p:nvSpPr>
          <p:cNvPr id="162" name="Oval 161"/>
          <p:cNvSpPr/>
          <p:nvPr/>
        </p:nvSpPr>
        <p:spPr>
          <a:xfrm>
            <a:off x="11160000" y="33832800"/>
            <a:ext cx="115200" cy="115200"/>
          </a:xfrm>
          <a:prstGeom prst="ellipse">
            <a:avLst/>
          </a:prstGeom>
          <a:solidFill>
            <a:srgbClr val="F4EFE3"/>
          </a:solidFill>
          <a:ln>
            <a:solidFill>
              <a:srgbClr val="F4E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394000" y="33696000"/>
            <a:ext cx="7758000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EFE3"/>
                </a:solidFill>
                <a:latin typeface="Noto Sans CJK TC"/>
              </a:rPr>
              <a:t>真實 Slurm + 異質 GPU + MPS 驗證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160000" y="34956000"/>
            <a:ext cx="7992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EFE3"/>
                </a:solidFill>
                <a:latin typeface="Noto Sans CJK TC"/>
              </a:rPr>
              <a:t>不是只在模擬器裡比較演算法，
而是把學習決策接到可運作的叢集。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0520000" y="31068000"/>
            <a:ext cx="9000000" cy="6696000"/>
          </a:xfrm>
          <a:prstGeom prst="roundRect">
            <a:avLst/>
          </a:prstGeom>
          <a:solidFill>
            <a:srgbClr val="1F242A"/>
          </a:solidFill>
          <a:ln w="10160">
            <a:solidFill>
              <a:srgbClr val="1F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0880000" y="31355999"/>
            <a:ext cx="57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EB1CD"/>
                </a:solidFill>
                <a:latin typeface="Noto Sans CJK TC"/>
              </a:rPr>
              <a:t>POSITIONING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0880000" y="31752000"/>
            <a:ext cx="8028000" cy="147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EFE3"/>
                </a:solidFill>
                <a:latin typeface="Noto Sans CJK TC"/>
              </a:rPr>
              <a:t>研究定位
GPU sharing、placement 與 RL 被放進同一條 Slurm 路徑。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0880000" y="33588000"/>
            <a:ext cx="80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EB1CD"/>
                </a:solidFill>
                <a:latin typeface="Noto Sans CJK TC"/>
              </a:rPr>
              <a:t>[9][10][11][20][21]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880000" y="34200000"/>
            <a:ext cx="7992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BBBE"/>
                </a:solidFill>
                <a:latin typeface="Noto Sans CJK TC"/>
              </a:rPr>
              <a:t>下一步
更大叢集 · MIG + MPS · energy-aware reward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80000" y="38232000"/>
            <a:ext cx="2844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C848D"/>
                </a:solidFill>
                <a:latin typeface="Noto Sans CJK TC"/>
              </a:rPr>
              <a:t>資料與數字取自 assets/TANET.pdf；方法背景：Slurm [1]、NVIDIA MPS [9]、RLPD [20]、Kubernetes DRA [21]。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