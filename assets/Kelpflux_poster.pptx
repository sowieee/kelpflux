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0600650" cy="396001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6322" autoAdjust="0"/>
    <p:restoredTop sz="95184" autoAdjust="0"/>
  </p:normalViewPr>
  <p:slideViewPr>
    <p:cSldViewPr snapToGrid="0" snapToObjects="1">
      <p:cViewPr>
        <p:scale>
          <a:sx n="25" d="100"/>
          <a:sy n="25" d="100"/>
        </p:scale>
        <p:origin x="2021" y="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5BB2AC-52C5-4EB1-B892-750176138786}" type="datetimeFigureOut">
              <a:rPr lang="zh-TW" altLang="en-US" smtClean="0"/>
              <a:t>2026/9/15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956654-97BB-4807-BAFF-73C69A2D26F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3911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56654-97BB-4807-BAFF-73C69A2D26F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4566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2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poster-hero-g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0000" y="1381244"/>
            <a:ext cx="13320000" cy="5400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39999" y="526346"/>
            <a:ext cx="9132321" cy="55399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36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Group #16 </a:t>
            </a:r>
            <a:r>
              <a:rPr lang="zh-TW" altLang="en-US" sz="36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分散式</a:t>
            </a:r>
            <a:r>
              <a:rPr lang="en-US" altLang="zh-TW" sz="36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GPU</a:t>
            </a:r>
            <a:r>
              <a:rPr lang="zh-TW" altLang="en-US" sz="36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運算資源分配機制</a:t>
            </a:r>
            <a:endParaRPr sz="3600" dirty="0">
              <a:solidFill>
                <a:srgbClr val="8EB1CD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97118" y="1483200"/>
            <a:ext cx="28439999" cy="1477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600" dirty="0" err="1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異質</a:t>
            </a:r>
            <a:r>
              <a:rPr sz="9600" dirty="0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 GPU + MP</a:t>
            </a:r>
            <a:r>
              <a:rPr lang="en-US" sz="9600" dirty="0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S</a:t>
            </a:r>
            <a:r>
              <a:rPr lang="zh-TW" altLang="en-US" sz="9600" dirty="0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。</a:t>
            </a:r>
            <a:r>
              <a:rPr sz="9600" dirty="0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讓 </a:t>
            </a:r>
            <a:r>
              <a:rPr sz="9600" dirty="0" err="1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Slurm</a:t>
            </a:r>
            <a:r>
              <a:rPr sz="9600" dirty="0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 </a:t>
            </a:r>
            <a:r>
              <a:rPr sz="9600" dirty="0" err="1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學會選工作、選</a:t>
            </a:r>
            <a:r>
              <a:rPr sz="9600" dirty="0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2445" y="3319289"/>
            <a:ext cx="19601123" cy="2215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0" dirty="0" err="1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基於</a:t>
            </a:r>
            <a:r>
              <a:rPr sz="72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sz="7200" b="0" dirty="0" err="1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Slurm</a:t>
            </a:r>
            <a:r>
              <a:rPr sz="72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與 Kubernetes </a:t>
            </a:r>
            <a:r>
              <a:rPr sz="7200" b="0" dirty="0" err="1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架構下</a:t>
            </a:r>
            <a:r>
              <a:rPr sz="72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AI </a:t>
            </a:r>
            <a:r>
              <a:rPr sz="7200" b="0" dirty="0" err="1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伺服器</a:t>
            </a:r>
            <a:r>
              <a:rPr sz="72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
GPU </a:t>
            </a:r>
            <a:r>
              <a:rPr sz="7200" b="0" dirty="0" err="1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工作負載智慧排程技術之研究</a:t>
            </a:r>
            <a:endParaRPr sz="7200" b="0" dirty="0">
              <a:solidFill>
                <a:srgbClr val="B7BBBE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55200" y="5930838"/>
            <a:ext cx="18072001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zh-TW" altLang="en-US" sz="4400" b="0" dirty="0">
                <a:solidFill>
                  <a:srgbClr val="7C848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▍鄭珽升、蕭友翰、陳宗禧（指導教授）</a:t>
            </a:r>
            <a:r>
              <a:rPr lang="zh-TW" altLang="en-US" sz="4400" dirty="0">
                <a:solidFill>
                  <a:srgbClr val="7C848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sz="4400" b="0" dirty="0">
                <a:solidFill>
                  <a:srgbClr val="7C848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lang="en-US" sz="4400" b="0" dirty="0">
                <a:solidFill>
                  <a:srgbClr val="7C848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@ </a:t>
            </a:r>
            <a:r>
              <a:rPr lang="zh-TW" altLang="en-US" sz="4400" dirty="0">
                <a:solidFill>
                  <a:srgbClr val="7C848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國立臺南大學資訊工程學系</a:t>
            </a:r>
            <a:endParaRPr sz="4400" b="0" dirty="0">
              <a:solidFill>
                <a:srgbClr val="7C848D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80000" y="6819135"/>
            <a:ext cx="28440000" cy="79200"/>
          </a:xfrm>
          <a:prstGeom prst="rect">
            <a:avLst/>
          </a:prstGeom>
          <a:solidFill>
            <a:srgbClr val="5B8FBE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79998" y="7725230"/>
            <a:ext cx="82800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dirty="0" err="1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為什麼要做</a:t>
            </a:r>
            <a:r>
              <a:rPr sz="5400" dirty="0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80000" y="8592575"/>
            <a:ext cx="4137795" cy="64800"/>
          </a:xfrm>
          <a:prstGeom prst="rect">
            <a:avLst/>
          </a:prstGeom>
          <a:solidFill>
            <a:srgbClr val="5B8FBE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80000" y="8984791"/>
            <a:ext cx="8820000" cy="3311999"/>
          </a:xfrm>
          <a:prstGeom prst="roundRect">
            <a:avLst/>
          </a:prstGeom>
          <a:solidFill>
            <a:srgbClr val="1F242A"/>
          </a:solidFill>
          <a:ln w="10160">
            <a:solidFill>
              <a:srgbClr val="1F2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83450" y="9279475"/>
            <a:ext cx="4320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？</a:t>
            </a:r>
            <a:r>
              <a:rPr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0" y="9817148"/>
            <a:ext cx="799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AI </a:t>
            </a:r>
            <a:r>
              <a:rPr sz="320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工作同時提交</a:t>
            </a:r>
            <a:r>
              <a:rPr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，
GPU </a:t>
            </a:r>
            <a:r>
              <a:rPr sz="320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變成共享且競爭的資源</a:t>
            </a:r>
            <a:r>
              <a:rPr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。</a:t>
            </a:r>
          </a:p>
        </p:txBody>
      </p:sp>
      <p:sp>
        <p:nvSpPr>
          <p:cNvPr id="14" name="Oval 13"/>
          <p:cNvSpPr/>
          <p:nvPr/>
        </p:nvSpPr>
        <p:spPr>
          <a:xfrm>
            <a:off x="1687130" y="11234328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21130" y="11105148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GPU </a:t>
            </a:r>
            <a:r>
              <a:rPr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世代不同，效能與記憶體不對稱</a:t>
            </a:r>
            <a:endParaRPr sz="2400" b="0" dirty="0">
              <a:solidFill>
                <a:srgbClr val="F4EFE3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1687130" y="11883108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21130" y="11639628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MPS </a:t>
            </a:r>
            <a:r>
              <a:rPr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配額會改變共置與完成時間</a:t>
            </a:r>
            <a:endParaRPr sz="2400" b="0" dirty="0">
              <a:solidFill>
                <a:srgbClr val="F4EFE3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0620000" y="8984791"/>
            <a:ext cx="8820000" cy="3311999"/>
          </a:xfrm>
          <a:prstGeom prst="roundRect">
            <a:avLst/>
          </a:prstGeom>
          <a:solidFill>
            <a:srgbClr val="1F242A"/>
          </a:solidFill>
          <a:ln w="10160">
            <a:solidFill>
              <a:srgbClr val="1F2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0160000" y="8984791"/>
            <a:ext cx="9360000" cy="3311999"/>
          </a:xfrm>
          <a:prstGeom prst="roundRect">
            <a:avLst/>
          </a:prstGeom>
          <a:solidFill>
            <a:srgbClr val="2D4C69"/>
          </a:solidFill>
          <a:ln w="10160">
            <a:solidFill>
              <a:srgbClr val="2D4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79998" y="13285563"/>
            <a:ext cx="7266831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dirty="0" err="1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一條可落地的排程路徑</a:t>
            </a:r>
            <a:endParaRPr sz="5400" dirty="0">
              <a:solidFill>
                <a:srgbClr val="F4EFE3"/>
              </a:solidFill>
              <a:latin typeface="jf金萱 七分糖" panose="020B0800000000000000" pitchFamily="34" charset="-120"/>
              <a:ea typeface="jf金萱 七分糖" panose="020B0800000000000000" pitchFamily="34" charset="-12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079999" y="14150675"/>
            <a:ext cx="6932431" cy="64800"/>
          </a:xfrm>
          <a:prstGeom prst="rect">
            <a:avLst/>
          </a:prstGeom>
          <a:solidFill>
            <a:srgbClr val="5B8FBE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79998" y="14493456"/>
            <a:ext cx="8892002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K</a:t>
            </a:r>
            <a:r>
              <a:rPr lang="en-US"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8</a:t>
            </a:r>
            <a:r>
              <a:rPr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 </a:t>
            </a:r>
            <a:r>
              <a:rPr sz="2800" b="0" dirty="0" err="1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負責部署與生命週期；Slurm</a:t>
            </a:r>
            <a:r>
              <a:rPr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+ DRL </a:t>
            </a:r>
            <a:r>
              <a:rPr sz="2800" b="0" dirty="0" err="1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負責決策</a:t>
            </a:r>
            <a:endParaRPr sz="2800" b="0" dirty="0">
              <a:solidFill>
                <a:srgbClr val="B7BBBE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1080000" y="15780539"/>
            <a:ext cx="4212000" cy="2196000"/>
          </a:xfrm>
          <a:prstGeom prst="roundRect">
            <a:avLst/>
          </a:prstGeom>
          <a:solidFill>
            <a:srgbClr val="2D333A"/>
          </a:solidFill>
          <a:ln w="10160">
            <a:solidFill>
              <a:srgbClr val="8E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332000" y="15978539"/>
            <a:ext cx="486000" cy="486000"/>
          </a:xfrm>
          <a:prstGeom prst="ellipse">
            <a:avLst/>
          </a:prstGeom>
          <a:solidFill>
            <a:srgbClr val="8EB1CD"/>
          </a:solidFill>
          <a:ln>
            <a:solidFill>
              <a:srgbClr val="8E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12200" y="15990836"/>
            <a:ext cx="486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dirty="0">
                <a:solidFill>
                  <a:srgbClr val="24282D"/>
                </a:solidFill>
                <a:latin typeface="Neue Power Heavy" pitchFamily="2" charset="0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89930" y="16006063"/>
            <a:ext cx="3167999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dirty="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Job Queue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5200" y="16690515"/>
            <a:ext cx="3167999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 err="1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工作到達</a:t>
            </a:r>
            <a:r>
              <a:rPr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
前 16 個 pending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292000" y="16878539"/>
            <a:ext cx="342000" cy="0"/>
          </a:xfrm>
          <a:prstGeom prst="line">
            <a:avLst/>
          </a:prstGeom>
          <a:ln w="22860">
            <a:solidFill>
              <a:srgbClr val="8EB1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760000" y="15780539"/>
            <a:ext cx="4212000" cy="2196000"/>
          </a:xfrm>
          <a:prstGeom prst="roundRect">
            <a:avLst/>
          </a:prstGeom>
          <a:solidFill>
            <a:srgbClr val="2D333A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012000" y="15978539"/>
            <a:ext cx="486000" cy="4860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12000" y="15976756"/>
            <a:ext cx="486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dirty="0">
                <a:solidFill>
                  <a:srgbClr val="24282D"/>
                </a:solidFill>
                <a:latin typeface="Neue Power Heavy" pitchFamily="2" charset="0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0479" y="15975359"/>
            <a:ext cx="2669519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dirty="0" err="1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Slurm</a:t>
            </a:r>
            <a:endParaRPr sz="3200" dirty="0">
              <a:solidFill>
                <a:srgbClr val="F4EFE3"/>
              </a:solidFill>
              <a:latin typeface="Geist SemiBold" pitchFamily="2" charset="0"/>
              <a:ea typeface="Geist SemiBold" pitchFamily="2" charset="0"/>
              <a:cs typeface="Geist SemiBold" pitchFamily="2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246000" y="16729969"/>
            <a:ext cx="3167999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P</a:t>
            </a:r>
            <a:r>
              <a:rPr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riority
</a:t>
            </a:r>
            <a:r>
              <a:rPr sz="2800" b="0" dirty="0" err="1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排序與提交路徑</a:t>
            </a:r>
            <a:endParaRPr sz="2800" b="0" dirty="0">
              <a:solidFill>
                <a:srgbClr val="B7BBBE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9972000" y="16878539"/>
            <a:ext cx="342000" cy="0"/>
          </a:xfrm>
          <a:prstGeom prst="line">
            <a:avLst/>
          </a:prstGeom>
          <a:ln w="22860">
            <a:solidFill>
              <a:srgbClr val="8EB1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0440000" y="15780539"/>
            <a:ext cx="4212000" cy="2196000"/>
          </a:xfrm>
          <a:prstGeom prst="roundRect">
            <a:avLst/>
          </a:prstGeom>
          <a:solidFill>
            <a:srgbClr val="2D333A"/>
          </a:solidFill>
          <a:ln w="10160">
            <a:solidFill>
              <a:srgbClr val="8E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10692000" y="15978539"/>
            <a:ext cx="486000" cy="486000"/>
          </a:xfrm>
          <a:prstGeom prst="ellipse">
            <a:avLst/>
          </a:prstGeom>
          <a:solidFill>
            <a:srgbClr val="8EB1CD"/>
          </a:solidFill>
          <a:ln>
            <a:solidFill>
              <a:srgbClr val="8E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692000" y="15999617"/>
            <a:ext cx="486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dirty="0">
                <a:solidFill>
                  <a:srgbClr val="24282D"/>
                </a:solidFill>
                <a:latin typeface="Neue Power Heavy" pitchFamily="2" charset="0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61481" y="16005839"/>
            <a:ext cx="28585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dirty="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DRL Scheduler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35000" y="16753652"/>
            <a:ext cx="3473999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SAC/RDSAC/RLPD
action mask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4652000" y="16878539"/>
            <a:ext cx="342000" cy="0"/>
          </a:xfrm>
          <a:prstGeom prst="line">
            <a:avLst/>
          </a:prstGeom>
          <a:ln w="22860">
            <a:solidFill>
              <a:srgbClr val="8EB1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15120000" y="15780539"/>
            <a:ext cx="4212000" cy="2196000"/>
          </a:xfrm>
          <a:prstGeom prst="roundRect">
            <a:avLst/>
          </a:prstGeom>
          <a:solidFill>
            <a:srgbClr val="2D333A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15372000" y="15978539"/>
            <a:ext cx="486000" cy="4860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5356760" y="15976757"/>
            <a:ext cx="486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dirty="0">
                <a:solidFill>
                  <a:srgbClr val="24282D"/>
                </a:solidFill>
                <a:latin typeface="Neue Power Heavy" pitchFamily="2" charset="0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078861" y="16005052"/>
            <a:ext cx="2841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dirty="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Placement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599760" y="16785435"/>
            <a:ext cx="3167999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 err="1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選工作</a:t>
            </a:r>
            <a:r>
              <a:rPr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× 選 GPU
MPS fraction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9332000" y="16878539"/>
            <a:ext cx="342000" cy="0"/>
          </a:xfrm>
          <a:prstGeom prst="line">
            <a:avLst/>
          </a:prstGeom>
          <a:ln w="22860">
            <a:solidFill>
              <a:srgbClr val="8EB1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9800000" y="15780539"/>
            <a:ext cx="4212000" cy="2196000"/>
          </a:xfrm>
          <a:prstGeom prst="roundRect">
            <a:avLst/>
          </a:prstGeom>
          <a:solidFill>
            <a:srgbClr val="2D333A"/>
          </a:solidFill>
          <a:ln w="10160">
            <a:solidFill>
              <a:srgbClr val="8E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20052000" y="15978539"/>
            <a:ext cx="486000" cy="486000"/>
          </a:xfrm>
          <a:prstGeom prst="ellipse">
            <a:avLst/>
          </a:prstGeom>
          <a:solidFill>
            <a:srgbClr val="8EB1CD"/>
          </a:solidFill>
          <a:ln>
            <a:solidFill>
              <a:srgbClr val="8E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0052000" y="15999617"/>
            <a:ext cx="486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dirty="0">
                <a:solidFill>
                  <a:srgbClr val="24282D"/>
                </a:solidFill>
                <a:latin typeface="Neue Power Heavy" pitchFamily="2" charset="0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721481" y="15990599"/>
            <a:ext cx="29157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dirty="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GPU Workers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295000" y="16751475"/>
            <a:ext cx="3483839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RTX4070 +</a:t>
            </a:r>
            <a:r>
              <a:rPr lang="en-US"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3080
25–100% MPS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4012000" y="16878539"/>
            <a:ext cx="342000" cy="0"/>
          </a:xfrm>
          <a:prstGeom prst="line">
            <a:avLst/>
          </a:prstGeom>
          <a:ln w="22860">
            <a:solidFill>
              <a:srgbClr val="8EB1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24480000" y="15780539"/>
            <a:ext cx="4212000" cy="2196000"/>
          </a:xfrm>
          <a:prstGeom prst="roundRect">
            <a:avLst/>
          </a:prstGeom>
          <a:solidFill>
            <a:srgbClr val="2D333A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24732000" y="15978539"/>
            <a:ext cx="486000" cy="4860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4732000" y="15994537"/>
            <a:ext cx="486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dirty="0">
                <a:solidFill>
                  <a:srgbClr val="24282D"/>
                </a:solidFill>
                <a:latin typeface="Neue Power Heavy" pitchFamily="2" charset="0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325999" y="15967739"/>
            <a:ext cx="3167999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dirty="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Monitor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975000" y="16751475"/>
            <a:ext cx="3167999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JCT / </a:t>
            </a:r>
            <a:r>
              <a:rPr lang="en-US"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U</a:t>
            </a:r>
            <a:r>
              <a:rPr sz="2800" b="0" dirty="0">
                <a:solidFill>
                  <a:srgbClr val="B7BBBE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tilization
replay buffer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0000" y="19012429"/>
            <a:ext cx="151200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dirty="0" err="1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實作成果與量測結果</a:t>
            </a:r>
            <a:endParaRPr sz="5400" dirty="0">
              <a:solidFill>
                <a:srgbClr val="F4EFE3"/>
              </a:solidFill>
              <a:latin typeface="jf金萱 七分糖" panose="020B0800000000000000" pitchFamily="34" charset="-120"/>
              <a:ea typeface="jf金萱 七分糖" panose="020B0800000000000000" pitchFamily="34" charset="-120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080000" y="19885454"/>
            <a:ext cx="6250440" cy="64800"/>
          </a:xfrm>
          <a:prstGeom prst="rect">
            <a:avLst/>
          </a:prstGeom>
          <a:solidFill>
            <a:srgbClr val="5B8FBE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80000" y="20473102"/>
            <a:ext cx="13860000" cy="10055810"/>
          </a:xfrm>
          <a:prstGeom prst="roundRect">
            <a:avLst>
              <a:gd name="adj" fmla="val 7666"/>
            </a:avLst>
          </a:prstGeom>
          <a:solidFill>
            <a:srgbClr val="1F242A"/>
          </a:solidFill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798200" y="21039382"/>
            <a:ext cx="127800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模擬預訓練</a:t>
            </a:r>
            <a:r>
              <a:rPr sz="3200" b="1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→ </a:t>
            </a:r>
            <a:r>
              <a:rPr sz="3200" b="1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真實資料</a:t>
            </a:r>
            <a:r>
              <a:rPr sz="3200" b="1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→ RLPD </a:t>
            </a:r>
            <a:r>
              <a:rPr sz="3200" b="1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微調</a:t>
            </a:r>
            <a:endParaRPr sz="3200" b="1" dirty="0">
              <a:solidFill>
                <a:srgbClr val="F4EFE3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pic>
        <p:nvPicPr>
          <p:cNvPr id="74" name="Picture 73" descr="training_converg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0000" y="21805102"/>
            <a:ext cx="13032000" cy="46800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440000" y="26629102"/>
            <a:ext cx="12780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7C848D"/>
                </a:solidFill>
                <a:latin typeface="Noto Sans CJK TC"/>
              </a:rPr>
              <a:t>SAC / RDSAC 的 reward 與 critic loss 收斂曲線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5480000" y="20473102"/>
            <a:ext cx="14040000" cy="4597663"/>
          </a:xfrm>
          <a:prstGeom prst="roundRect">
            <a:avLst>
              <a:gd name="adj" fmla="val 9847"/>
            </a:avLst>
          </a:prstGeom>
          <a:solidFill>
            <a:srgbClr val="1F242A"/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15804000" y="20822852"/>
            <a:ext cx="4491000" cy="43088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8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sz="28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Average </a:t>
            </a:r>
            <a:r>
              <a:rPr sz="280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JCT（越低越好</a:t>
            </a:r>
            <a:r>
              <a:rPr sz="28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）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804000" y="21712669"/>
            <a:ext cx="2412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FCFS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8396000" y="21777469"/>
            <a:ext cx="8748000" cy="151200"/>
          </a:xfrm>
          <a:prstGeom prst="roundRect">
            <a:avLst/>
          </a:prstGeom>
          <a:solidFill>
            <a:srgbClr val="3B434D"/>
          </a:solidFill>
          <a:ln w="10160">
            <a:solidFill>
              <a:srgbClr val="3B4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18396000" y="21777469"/>
            <a:ext cx="7989840" cy="151200"/>
          </a:xfrm>
          <a:prstGeom prst="roundRect">
            <a:avLst/>
          </a:prstGeom>
          <a:solidFill>
            <a:srgbClr val="7C848D"/>
          </a:solidFill>
          <a:ln w="10160">
            <a:solidFill>
              <a:srgbClr val="7C84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7432000" y="21705470"/>
            <a:ext cx="1728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 dirty="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137.0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5804000" y="22221044"/>
            <a:ext cx="2412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Backfill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8396000" y="22274269"/>
            <a:ext cx="8748000" cy="151200"/>
          </a:xfrm>
          <a:prstGeom prst="roundRect">
            <a:avLst/>
          </a:prstGeom>
          <a:solidFill>
            <a:srgbClr val="3B434D"/>
          </a:solidFill>
          <a:ln w="10160">
            <a:solidFill>
              <a:srgbClr val="3B4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18396000" y="22274269"/>
            <a:ext cx="7943184" cy="151200"/>
          </a:xfrm>
          <a:prstGeom prst="roundRect">
            <a:avLst/>
          </a:prstGeom>
          <a:solidFill>
            <a:srgbClr val="7C848D"/>
          </a:solidFill>
          <a:ln w="10160">
            <a:solidFill>
              <a:srgbClr val="7C84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27432000" y="22202270"/>
            <a:ext cx="1728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136.2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804000" y="23192379"/>
            <a:ext cx="2412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SAC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8396000" y="23245604"/>
            <a:ext cx="8748000" cy="151200"/>
          </a:xfrm>
          <a:prstGeom prst="roundRect">
            <a:avLst/>
          </a:prstGeom>
          <a:solidFill>
            <a:srgbClr val="3B434D"/>
          </a:solidFill>
          <a:ln w="10160">
            <a:solidFill>
              <a:srgbClr val="3B4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18396000" y="23245604"/>
            <a:ext cx="7359984" cy="151200"/>
          </a:xfrm>
          <a:prstGeom prst="roundRect">
            <a:avLst/>
          </a:prstGeom>
          <a:solidFill>
            <a:srgbClr val="5B8FBE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27432000" y="23173604"/>
            <a:ext cx="1728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126.2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5804000" y="23689179"/>
            <a:ext cx="2412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RDSAC-</a:t>
            </a:r>
            <a:r>
              <a:rPr sz="2800" b="0" dirty="0" err="1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cvar</a:t>
            </a:r>
            <a:endParaRPr sz="2800" b="0" dirty="0">
              <a:solidFill>
                <a:srgbClr val="B7BBBE"/>
              </a:solidFill>
              <a:latin typeface="Geist SemiBold" pitchFamily="2" charset="0"/>
              <a:ea typeface="Geist SemiBold" pitchFamily="2" charset="0"/>
              <a:cs typeface="Geist SemiBold" pitchFamily="2" charset="0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18396000" y="23742404"/>
            <a:ext cx="8748000" cy="151200"/>
          </a:xfrm>
          <a:prstGeom prst="roundRect">
            <a:avLst/>
          </a:prstGeom>
          <a:solidFill>
            <a:srgbClr val="3B434D"/>
          </a:solidFill>
          <a:ln w="10160">
            <a:solidFill>
              <a:srgbClr val="3B4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18396000" y="23742404"/>
            <a:ext cx="7610760" cy="151200"/>
          </a:xfrm>
          <a:prstGeom prst="roundRect">
            <a:avLst/>
          </a:prstGeom>
          <a:solidFill>
            <a:srgbClr val="8EB1CD"/>
          </a:solidFill>
          <a:ln w="10160">
            <a:solidFill>
              <a:srgbClr val="8E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27432000" y="23670404"/>
            <a:ext cx="1728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130.5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5804000" y="24185979"/>
            <a:ext cx="2412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RLPD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8396000" y="24239204"/>
            <a:ext cx="8748000" cy="151200"/>
          </a:xfrm>
          <a:prstGeom prst="roundRect">
            <a:avLst/>
          </a:prstGeom>
          <a:solidFill>
            <a:srgbClr val="3B434D"/>
          </a:solidFill>
          <a:ln w="10160">
            <a:solidFill>
              <a:srgbClr val="3B4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ounded Rectangle 108"/>
          <p:cNvSpPr/>
          <p:nvPr/>
        </p:nvSpPr>
        <p:spPr>
          <a:xfrm>
            <a:off x="18396000" y="24239204"/>
            <a:ext cx="6456024" cy="151200"/>
          </a:xfrm>
          <a:prstGeom prst="roundRect">
            <a:avLst/>
          </a:prstGeom>
          <a:solidFill>
            <a:srgbClr val="84AB91"/>
          </a:solidFill>
          <a:ln w="10160">
            <a:solidFill>
              <a:srgbClr val="84A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27432000" y="24167204"/>
            <a:ext cx="1728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110.7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5804000" y="22868089"/>
            <a:ext cx="198000" cy="72000"/>
          </a:xfrm>
          <a:prstGeom prst="rect">
            <a:avLst/>
          </a:prstGeom>
          <a:solidFill>
            <a:srgbClr val="5B8FBE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15480000" y="25729102"/>
            <a:ext cx="14040000" cy="4752000"/>
          </a:xfrm>
          <a:prstGeom prst="roundRect">
            <a:avLst>
              <a:gd name="adj" fmla="val 11552"/>
            </a:avLst>
          </a:prstGeom>
          <a:solidFill>
            <a:srgbClr val="1F242A"/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15804000" y="26148302"/>
            <a:ext cx="3870000" cy="43088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8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sz="28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P99 </a:t>
            </a:r>
            <a:r>
              <a:rPr sz="280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JCT（尾端代價</a:t>
            </a:r>
            <a:r>
              <a:rPr sz="28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）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804000" y="27020389"/>
            <a:ext cx="2412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FCFS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8396000" y="27085189"/>
            <a:ext cx="8748000" cy="151200"/>
          </a:xfrm>
          <a:prstGeom prst="roundRect">
            <a:avLst/>
          </a:prstGeom>
          <a:solidFill>
            <a:srgbClr val="3B434D"/>
          </a:solidFill>
          <a:ln w="10160">
            <a:solidFill>
              <a:srgbClr val="3B4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18396000" y="27085189"/>
            <a:ext cx="3431907" cy="151200"/>
          </a:xfrm>
          <a:prstGeom prst="roundRect">
            <a:avLst/>
          </a:prstGeom>
          <a:solidFill>
            <a:srgbClr val="7C848D"/>
          </a:solidFill>
          <a:ln w="10160">
            <a:solidFill>
              <a:srgbClr val="7C84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27432000" y="27013189"/>
            <a:ext cx="1728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 dirty="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255.0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5804000" y="27528764"/>
            <a:ext cx="2412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Backfill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8396000" y="27581989"/>
            <a:ext cx="8748000" cy="151200"/>
          </a:xfrm>
          <a:prstGeom prst="roundRect">
            <a:avLst/>
          </a:prstGeom>
          <a:solidFill>
            <a:srgbClr val="3B434D"/>
          </a:solidFill>
          <a:ln w="10160">
            <a:solidFill>
              <a:srgbClr val="3B4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ounded Rectangle 120"/>
          <p:cNvSpPr/>
          <p:nvPr/>
        </p:nvSpPr>
        <p:spPr>
          <a:xfrm>
            <a:off x="18396000" y="27581989"/>
            <a:ext cx="3631092" cy="151200"/>
          </a:xfrm>
          <a:prstGeom prst="roundRect">
            <a:avLst/>
          </a:prstGeom>
          <a:solidFill>
            <a:srgbClr val="7C848D"/>
          </a:solidFill>
          <a:ln w="10160">
            <a:solidFill>
              <a:srgbClr val="7C84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27432000" y="27509989"/>
            <a:ext cx="1728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269.8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5804000" y="28522363"/>
            <a:ext cx="2412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SAC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8396000" y="28575588"/>
            <a:ext cx="8748000" cy="151200"/>
          </a:xfrm>
          <a:prstGeom prst="roundRect">
            <a:avLst/>
          </a:prstGeom>
          <a:solidFill>
            <a:srgbClr val="3B434D"/>
          </a:solidFill>
          <a:ln w="10160">
            <a:solidFill>
              <a:srgbClr val="3B4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128"/>
          <p:cNvSpPr/>
          <p:nvPr/>
        </p:nvSpPr>
        <p:spPr>
          <a:xfrm>
            <a:off x="18396000" y="28575588"/>
            <a:ext cx="7624218" cy="151200"/>
          </a:xfrm>
          <a:prstGeom prst="roundRect">
            <a:avLst/>
          </a:prstGeom>
          <a:solidFill>
            <a:srgbClr val="5B8FBE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27432000" y="28503588"/>
            <a:ext cx="1728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566.5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804000" y="29019163"/>
            <a:ext cx="2412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RDSAC-</a:t>
            </a:r>
            <a:r>
              <a:rPr sz="2800" b="0" dirty="0" err="1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cvar</a:t>
            </a:r>
            <a:endParaRPr sz="2800" b="0" dirty="0">
              <a:solidFill>
                <a:srgbClr val="B7BBBE"/>
              </a:solidFill>
              <a:latin typeface="Geist SemiBold" pitchFamily="2" charset="0"/>
              <a:ea typeface="Geist SemiBold" pitchFamily="2" charset="0"/>
              <a:cs typeface="Geist SemiBold" pitchFamily="2" charset="0"/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18396000" y="29072388"/>
            <a:ext cx="8748000" cy="151200"/>
          </a:xfrm>
          <a:prstGeom prst="roundRect">
            <a:avLst/>
          </a:prstGeom>
          <a:solidFill>
            <a:srgbClr val="3B434D"/>
          </a:solidFill>
          <a:ln w="10160">
            <a:solidFill>
              <a:srgbClr val="3B4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18396000" y="29072388"/>
            <a:ext cx="7102030" cy="151200"/>
          </a:xfrm>
          <a:prstGeom prst="roundRect">
            <a:avLst/>
          </a:prstGeom>
          <a:solidFill>
            <a:srgbClr val="8EB1CD"/>
          </a:solidFill>
          <a:ln w="10160">
            <a:solidFill>
              <a:srgbClr val="8E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27432000" y="29000388"/>
            <a:ext cx="1728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527.7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804000" y="29515963"/>
            <a:ext cx="2412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>
                <a:solidFill>
                  <a:srgbClr val="B7BBBE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RLPD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8396000" y="29569188"/>
            <a:ext cx="8748000" cy="151200"/>
          </a:xfrm>
          <a:prstGeom prst="roundRect">
            <a:avLst/>
          </a:prstGeom>
          <a:solidFill>
            <a:srgbClr val="3B434D"/>
          </a:solidFill>
          <a:ln w="10160">
            <a:solidFill>
              <a:srgbClr val="3B4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18396000" y="29569188"/>
            <a:ext cx="6850356" cy="151200"/>
          </a:xfrm>
          <a:prstGeom prst="roundRect">
            <a:avLst/>
          </a:prstGeom>
          <a:solidFill>
            <a:srgbClr val="84AB91"/>
          </a:solidFill>
          <a:ln w="10160">
            <a:solidFill>
              <a:srgbClr val="84A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27432000" y="29497188"/>
            <a:ext cx="1728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>
                <a:solidFill>
                  <a:srgbClr val="F4EFE3"/>
                </a:solidFill>
                <a:latin typeface="Geist SemiBold" pitchFamily="2" charset="0"/>
                <a:ea typeface="Geist SemiBold" pitchFamily="2" charset="0"/>
                <a:cs typeface="Geist SemiBold" pitchFamily="2" charset="0"/>
              </a:rPr>
              <a:t>509.0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5804000" y="28179533"/>
            <a:ext cx="198000" cy="72000"/>
          </a:xfrm>
          <a:prstGeom prst="rect">
            <a:avLst/>
          </a:prstGeom>
          <a:solidFill>
            <a:srgbClr val="5B8FBE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15580275" y="30825701"/>
            <a:ext cx="14039999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u="sng" dirty="0">
                <a:solidFill>
                  <a:schemeClr val="accent2">
                    <a:lumMod val="60000"/>
                    <a:lumOff val="40000"/>
                  </a:schemeClr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RLPD </a:t>
            </a:r>
            <a:r>
              <a:rPr sz="3200" u="sng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平均</a:t>
            </a:r>
            <a:r>
              <a:rPr sz="3200" u="sng" dirty="0">
                <a:solidFill>
                  <a:schemeClr val="accent2">
                    <a:lumMod val="60000"/>
                    <a:lumOff val="40000"/>
                  </a:schemeClr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JCT </a:t>
            </a:r>
            <a:r>
              <a:rPr sz="3200" u="sng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最低；學習式策略的</a:t>
            </a:r>
            <a:r>
              <a:rPr sz="3200" u="sng" dirty="0">
                <a:solidFill>
                  <a:schemeClr val="accent2">
                    <a:lumMod val="60000"/>
                    <a:lumOff val="40000"/>
                  </a:schemeClr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P99 </a:t>
            </a:r>
            <a:r>
              <a:rPr sz="3200" u="sng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約為</a:t>
            </a:r>
            <a:r>
              <a:rPr sz="3200" u="sng" dirty="0">
                <a:solidFill>
                  <a:schemeClr val="accent2">
                    <a:lumMod val="60000"/>
                    <a:lumOff val="40000"/>
                  </a:schemeClr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FCFS / Backfill 的</a:t>
            </a:r>
            <a:r>
              <a:rPr lang="en-US" sz="3200" u="sng" dirty="0">
                <a:solidFill>
                  <a:schemeClr val="accent2">
                    <a:lumMod val="60000"/>
                    <a:lumOff val="40000"/>
                  </a:schemeClr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2 </a:t>
            </a:r>
            <a:r>
              <a:rPr sz="3200" u="sng" dirty="0">
                <a:solidFill>
                  <a:schemeClr val="accent2">
                    <a:lumMod val="60000"/>
                    <a:lumOff val="40000"/>
                  </a:schemeClr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倍。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80000" y="31657964"/>
            <a:ext cx="108000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5400" dirty="0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我們</a:t>
            </a:r>
            <a:r>
              <a:rPr sz="5400" dirty="0" err="1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完成了什麼</a:t>
            </a:r>
            <a:r>
              <a:rPr sz="5400" dirty="0">
                <a:solidFill>
                  <a:srgbClr val="F4EFE3"/>
                </a:solidFill>
                <a:latin typeface="jf金萱 七分糖" panose="020B0800000000000000" pitchFamily="34" charset="-120"/>
                <a:ea typeface="jf金萱 七分糖" panose="020B0800000000000000" pitchFamily="34" charset="-120"/>
              </a:rPr>
              <a:t>？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80000" y="32534681"/>
            <a:ext cx="5418000" cy="64800"/>
          </a:xfrm>
          <a:prstGeom prst="rect">
            <a:avLst/>
          </a:prstGeom>
          <a:solidFill>
            <a:srgbClr val="5B8FBE"/>
          </a:solidFill>
          <a:ln w="10160"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ounded Rectangle 143"/>
          <p:cNvSpPr/>
          <p:nvPr/>
        </p:nvSpPr>
        <p:spPr>
          <a:xfrm>
            <a:off x="1080000" y="33139519"/>
            <a:ext cx="8856000" cy="5031960"/>
          </a:xfrm>
          <a:prstGeom prst="roundRect">
            <a:avLst/>
          </a:prstGeom>
          <a:solidFill>
            <a:srgbClr val="1F242A"/>
          </a:solidFill>
          <a:ln w="10160">
            <a:solidFill>
              <a:srgbClr val="1F2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10800000" y="33139519"/>
            <a:ext cx="9000000" cy="5031960"/>
          </a:xfrm>
          <a:prstGeom prst="roundRect">
            <a:avLst/>
          </a:prstGeom>
          <a:solidFill>
            <a:srgbClr val="2D4C69"/>
          </a:solidFill>
          <a:ln w="10160">
            <a:solidFill>
              <a:srgbClr val="2D4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ounded Rectangle 164"/>
          <p:cNvSpPr/>
          <p:nvPr/>
        </p:nvSpPr>
        <p:spPr>
          <a:xfrm>
            <a:off x="20520000" y="33139519"/>
            <a:ext cx="9000000" cy="5031960"/>
          </a:xfrm>
          <a:prstGeom prst="roundRect">
            <a:avLst/>
          </a:prstGeom>
          <a:solidFill>
            <a:srgbClr val="1F242A"/>
          </a:solidFill>
          <a:ln w="10160">
            <a:solidFill>
              <a:srgbClr val="1F2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1">
            <a:extLst>
              <a:ext uri="{FF2B5EF4-FFF2-40B4-BE49-F238E27FC236}">
                <a16:creationId xmlns:a16="http://schemas.microsoft.com/office/drawing/2014/main" id="{643CEBFD-D9A6-228F-93DF-4C9EE3CBAA91}"/>
              </a:ext>
            </a:extLst>
          </p:cNvPr>
          <p:cNvSpPr txBox="1"/>
          <p:nvPr/>
        </p:nvSpPr>
        <p:spPr>
          <a:xfrm>
            <a:off x="10982319" y="9279475"/>
            <a:ext cx="4320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＞</a:t>
            </a:r>
            <a:r>
              <a:rPr lang="en-US" altLang="zh-TW"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GAP</a:t>
            </a:r>
            <a:endParaRPr sz="2800" dirty="0">
              <a:solidFill>
                <a:srgbClr val="8EB1CD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173" name="TextBox 12">
            <a:extLst>
              <a:ext uri="{FF2B5EF4-FFF2-40B4-BE49-F238E27FC236}">
                <a16:creationId xmlns:a16="http://schemas.microsoft.com/office/drawing/2014/main" id="{C4F0505B-A5FE-F947-760D-947A127805F7}"/>
              </a:ext>
            </a:extLst>
          </p:cNvPr>
          <p:cNvSpPr txBox="1"/>
          <p:nvPr/>
        </p:nvSpPr>
        <p:spPr>
          <a:xfrm>
            <a:off x="11038869" y="9817148"/>
            <a:ext cx="799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傳統 </a:t>
            </a:r>
            <a:r>
              <a:rPr lang="en-US" altLang="zh-TW" sz="320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Slurm</a:t>
            </a:r>
            <a:r>
              <a:rPr lang="en-US" altLang="zh-TW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規則</a:t>
            </a:r>
            <a:endParaRPr lang="en-US" altLang="zh-TW" sz="3200" dirty="0">
              <a:solidFill>
                <a:srgbClr val="F4EFE3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  <a:p>
            <a:pPr algn="l"/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難以同看見這些狀態。</a:t>
            </a:r>
          </a:p>
        </p:txBody>
      </p:sp>
      <p:sp>
        <p:nvSpPr>
          <p:cNvPr id="174" name="Oval 13">
            <a:extLst>
              <a:ext uri="{FF2B5EF4-FFF2-40B4-BE49-F238E27FC236}">
                <a16:creationId xmlns:a16="http://schemas.microsoft.com/office/drawing/2014/main" id="{502D8E6E-646D-ADF5-98E4-68BF73CC8D0A}"/>
              </a:ext>
            </a:extLst>
          </p:cNvPr>
          <p:cNvSpPr/>
          <p:nvPr/>
        </p:nvSpPr>
        <p:spPr>
          <a:xfrm>
            <a:off x="11285999" y="11234328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4">
            <a:extLst>
              <a:ext uri="{FF2B5EF4-FFF2-40B4-BE49-F238E27FC236}">
                <a16:creationId xmlns:a16="http://schemas.microsoft.com/office/drawing/2014/main" id="{4D57AD0A-DFBE-A545-6F31-D1367F3F7BF7}"/>
              </a:ext>
            </a:extLst>
          </p:cNvPr>
          <p:cNvSpPr txBox="1"/>
          <p:nvPr/>
        </p:nvSpPr>
        <p:spPr>
          <a:xfrm>
            <a:off x="11519999" y="11105148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FCFS / Backfill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不學習長期效果</a:t>
            </a:r>
          </a:p>
        </p:txBody>
      </p:sp>
      <p:sp>
        <p:nvSpPr>
          <p:cNvPr id="176" name="Oval 15">
            <a:extLst>
              <a:ext uri="{FF2B5EF4-FFF2-40B4-BE49-F238E27FC236}">
                <a16:creationId xmlns:a16="http://schemas.microsoft.com/office/drawing/2014/main" id="{5109AA92-8212-C3DA-20B7-9C0E550F70AE}"/>
              </a:ext>
            </a:extLst>
          </p:cNvPr>
          <p:cNvSpPr/>
          <p:nvPr/>
        </p:nvSpPr>
        <p:spPr>
          <a:xfrm>
            <a:off x="11285999" y="11883108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6">
            <a:extLst>
              <a:ext uri="{FF2B5EF4-FFF2-40B4-BE49-F238E27FC236}">
                <a16:creationId xmlns:a16="http://schemas.microsoft.com/office/drawing/2014/main" id="{19999780-BE07-B9D7-D887-EF24E8369AC1}"/>
              </a:ext>
            </a:extLst>
          </p:cNvPr>
          <p:cNvSpPr txBox="1"/>
          <p:nvPr/>
        </p:nvSpPr>
        <p:spPr>
          <a:xfrm>
            <a:off x="11519999" y="11639628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既有方法多聚焦單一 </a:t>
            </a:r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GPU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或模擬環境</a:t>
            </a:r>
          </a:p>
        </p:txBody>
      </p:sp>
      <p:sp>
        <p:nvSpPr>
          <p:cNvPr id="178" name="TextBox 11">
            <a:extLst>
              <a:ext uri="{FF2B5EF4-FFF2-40B4-BE49-F238E27FC236}">
                <a16:creationId xmlns:a16="http://schemas.microsoft.com/office/drawing/2014/main" id="{951DBB2D-57EB-6AFE-3C28-AD42ED2619CF}"/>
              </a:ext>
            </a:extLst>
          </p:cNvPr>
          <p:cNvSpPr txBox="1"/>
          <p:nvPr/>
        </p:nvSpPr>
        <p:spPr>
          <a:xfrm>
            <a:off x="20520000" y="9279475"/>
            <a:ext cx="4320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⇨</a:t>
            </a:r>
            <a:r>
              <a:rPr lang="en-US" altLang="zh-TW"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GOAL</a:t>
            </a:r>
            <a:endParaRPr sz="2800" dirty="0">
              <a:solidFill>
                <a:srgbClr val="8EB1CD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179" name="TextBox 12">
            <a:extLst>
              <a:ext uri="{FF2B5EF4-FFF2-40B4-BE49-F238E27FC236}">
                <a16:creationId xmlns:a16="http://schemas.microsoft.com/office/drawing/2014/main" id="{30455401-FF6E-AC44-B2B7-E07FE65B7E2E}"/>
              </a:ext>
            </a:extLst>
          </p:cNvPr>
          <p:cNvSpPr txBox="1"/>
          <p:nvPr/>
        </p:nvSpPr>
        <p:spPr>
          <a:xfrm>
            <a:off x="20576550" y="9817148"/>
            <a:ext cx="799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在真實 </a:t>
            </a:r>
            <a:r>
              <a:rPr lang="en-US" altLang="zh-TW" sz="320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Slurm</a:t>
            </a:r>
            <a:r>
              <a:rPr lang="en-US" altLang="zh-TW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路徑中，</a:t>
            </a:r>
            <a:endParaRPr lang="en-US" altLang="zh-TW" sz="3200" dirty="0">
              <a:solidFill>
                <a:srgbClr val="F4EFE3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  <a:p>
            <a:pPr algn="l"/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聯合決定工作與 </a:t>
            </a:r>
            <a:r>
              <a:rPr lang="en-US" altLang="zh-TW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GPU</a:t>
            </a:r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放置。</a:t>
            </a:r>
          </a:p>
        </p:txBody>
      </p:sp>
      <p:sp>
        <p:nvSpPr>
          <p:cNvPr id="180" name="Oval 13">
            <a:extLst>
              <a:ext uri="{FF2B5EF4-FFF2-40B4-BE49-F238E27FC236}">
                <a16:creationId xmlns:a16="http://schemas.microsoft.com/office/drawing/2014/main" id="{39553D48-6BB2-52B1-EC9C-90377F6A4D6D}"/>
              </a:ext>
            </a:extLst>
          </p:cNvPr>
          <p:cNvSpPr/>
          <p:nvPr/>
        </p:nvSpPr>
        <p:spPr>
          <a:xfrm>
            <a:off x="20823680" y="11234328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4">
            <a:extLst>
              <a:ext uri="{FF2B5EF4-FFF2-40B4-BE49-F238E27FC236}">
                <a16:creationId xmlns:a16="http://schemas.microsoft.com/office/drawing/2014/main" id="{33A862D3-5A1E-1033-190F-1B200032C739}"/>
              </a:ext>
            </a:extLst>
          </p:cNvPr>
          <p:cNvSpPr txBox="1"/>
          <p:nvPr/>
        </p:nvSpPr>
        <p:spPr>
          <a:xfrm>
            <a:off x="21057680" y="11105148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輸出 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GPU placement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與 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MPS allocation</a:t>
            </a:r>
          </a:p>
        </p:txBody>
      </p:sp>
      <p:sp>
        <p:nvSpPr>
          <p:cNvPr id="182" name="Oval 15">
            <a:extLst>
              <a:ext uri="{FF2B5EF4-FFF2-40B4-BE49-F238E27FC236}">
                <a16:creationId xmlns:a16="http://schemas.microsoft.com/office/drawing/2014/main" id="{61DDDE8E-2079-D57A-B34F-0C0F5DBB4884}"/>
              </a:ext>
            </a:extLst>
          </p:cNvPr>
          <p:cNvSpPr/>
          <p:nvPr/>
        </p:nvSpPr>
        <p:spPr>
          <a:xfrm>
            <a:off x="20823680" y="11883108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6">
            <a:extLst>
              <a:ext uri="{FF2B5EF4-FFF2-40B4-BE49-F238E27FC236}">
                <a16:creationId xmlns:a16="http://schemas.microsoft.com/office/drawing/2014/main" id="{5BB412B7-6FD3-9B76-72AA-B66885746AE1}"/>
              </a:ext>
            </a:extLst>
          </p:cNvPr>
          <p:cNvSpPr txBox="1"/>
          <p:nvPr/>
        </p:nvSpPr>
        <p:spPr>
          <a:xfrm>
            <a:off x="21057680" y="11639628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低信心時回退至 </a:t>
            </a:r>
            <a:r>
              <a:rPr lang="en-US" altLang="zh-TW"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Slurm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內建排程</a:t>
            </a:r>
          </a:p>
        </p:txBody>
      </p:sp>
      <p:sp>
        <p:nvSpPr>
          <p:cNvPr id="184" name="TextBox 11">
            <a:extLst>
              <a:ext uri="{FF2B5EF4-FFF2-40B4-BE49-F238E27FC236}">
                <a16:creationId xmlns:a16="http://schemas.microsoft.com/office/drawing/2014/main" id="{0AB4D8C1-D96C-3E5B-70F8-757CE59E864E}"/>
              </a:ext>
            </a:extLst>
          </p:cNvPr>
          <p:cNvSpPr txBox="1"/>
          <p:nvPr/>
        </p:nvSpPr>
        <p:spPr>
          <a:xfrm>
            <a:off x="1499200" y="33546374"/>
            <a:ext cx="4320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＞</a:t>
            </a:r>
            <a:r>
              <a:rPr lang="en-US" altLang="zh-TW"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TESTBED</a:t>
            </a:r>
            <a:endParaRPr sz="2800" dirty="0">
              <a:solidFill>
                <a:srgbClr val="8EB1CD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185" name="TextBox 12">
            <a:extLst>
              <a:ext uri="{FF2B5EF4-FFF2-40B4-BE49-F238E27FC236}">
                <a16:creationId xmlns:a16="http://schemas.microsoft.com/office/drawing/2014/main" id="{BFBD1F76-A684-84F9-DB86-0E91079A0450}"/>
              </a:ext>
            </a:extLst>
          </p:cNvPr>
          <p:cNvSpPr txBox="1"/>
          <p:nvPr/>
        </p:nvSpPr>
        <p:spPr>
          <a:xfrm>
            <a:off x="1555750" y="34084047"/>
            <a:ext cx="79920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2-node </a:t>
            </a:r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異質 </a:t>
            </a:r>
            <a:r>
              <a:rPr 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GPU</a:t>
            </a:r>
          </a:p>
        </p:txBody>
      </p:sp>
      <p:sp>
        <p:nvSpPr>
          <p:cNvPr id="186" name="Oval 13">
            <a:extLst>
              <a:ext uri="{FF2B5EF4-FFF2-40B4-BE49-F238E27FC236}">
                <a16:creationId xmlns:a16="http://schemas.microsoft.com/office/drawing/2014/main" id="{A217784B-1ED1-2332-33F6-EB9F25A6C9A4}"/>
              </a:ext>
            </a:extLst>
          </p:cNvPr>
          <p:cNvSpPr/>
          <p:nvPr/>
        </p:nvSpPr>
        <p:spPr>
          <a:xfrm>
            <a:off x="1802880" y="35501227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4">
            <a:extLst>
              <a:ext uri="{FF2B5EF4-FFF2-40B4-BE49-F238E27FC236}">
                <a16:creationId xmlns:a16="http://schemas.microsoft.com/office/drawing/2014/main" id="{36F4AB96-AA22-ACBD-57DE-855BD0198229}"/>
              </a:ext>
            </a:extLst>
          </p:cNvPr>
          <p:cNvSpPr txBox="1"/>
          <p:nvPr/>
        </p:nvSpPr>
        <p:spPr>
          <a:xfrm>
            <a:off x="2036880" y="35372047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RTX 4070｜64 GB RAM</a:t>
            </a:r>
          </a:p>
        </p:txBody>
      </p:sp>
      <p:sp>
        <p:nvSpPr>
          <p:cNvPr id="188" name="Oval 15">
            <a:extLst>
              <a:ext uri="{FF2B5EF4-FFF2-40B4-BE49-F238E27FC236}">
                <a16:creationId xmlns:a16="http://schemas.microsoft.com/office/drawing/2014/main" id="{88D5E566-0C72-ED70-263C-41EBB5675D46}"/>
              </a:ext>
            </a:extLst>
          </p:cNvPr>
          <p:cNvSpPr/>
          <p:nvPr/>
        </p:nvSpPr>
        <p:spPr>
          <a:xfrm>
            <a:off x="1802880" y="36028087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04ED1B80-99AD-4293-46D4-3DE8B645BA57}"/>
              </a:ext>
            </a:extLst>
          </p:cNvPr>
          <p:cNvSpPr txBox="1"/>
          <p:nvPr/>
        </p:nvSpPr>
        <p:spPr>
          <a:xfrm>
            <a:off x="2036880" y="35906527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RTX 3080｜8 GB RAM</a:t>
            </a:r>
          </a:p>
        </p:txBody>
      </p:sp>
      <p:sp>
        <p:nvSpPr>
          <p:cNvPr id="191" name="Oval 13">
            <a:extLst>
              <a:ext uri="{FF2B5EF4-FFF2-40B4-BE49-F238E27FC236}">
                <a16:creationId xmlns:a16="http://schemas.microsoft.com/office/drawing/2014/main" id="{66D91E58-DF17-DC4F-5C0A-52430A1AE395}"/>
              </a:ext>
            </a:extLst>
          </p:cNvPr>
          <p:cNvSpPr/>
          <p:nvPr/>
        </p:nvSpPr>
        <p:spPr>
          <a:xfrm>
            <a:off x="1802880" y="36610295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4">
            <a:extLst>
              <a:ext uri="{FF2B5EF4-FFF2-40B4-BE49-F238E27FC236}">
                <a16:creationId xmlns:a16="http://schemas.microsoft.com/office/drawing/2014/main" id="{67B014A3-26E7-C534-F05B-5F6C7338CC5B}"/>
              </a:ext>
            </a:extLst>
          </p:cNvPr>
          <p:cNvSpPr txBox="1"/>
          <p:nvPr/>
        </p:nvSpPr>
        <p:spPr>
          <a:xfrm>
            <a:off x="2036880" y="36481115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BERT/</a:t>
            </a:r>
            <a:r>
              <a:rPr lang="en-US"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ResNet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/Qwen/</a:t>
            </a:r>
            <a:r>
              <a:rPr lang="en-US"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cuBLAS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CUDA Workloads</a:t>
            </a:r>
          </a:p>
        </p:txBody>
      </p:sp>
      <p:sp>
        <p:nvSpPr>
          <p:cNvPr id="193" name="Oval 15">
            <a:extLst>
              <a:ext uri="{FF2B5EF4-FFF2-40B4-BE49-F238E27FC236}">
                <a16:creationId xmlns:a16="http://schemas.microsoft.com/office/drawing/2014/main" id="{DBF6C367-2D24-86C6-966A-51D57D6A6024}"/>
              </a:ext>
            </a:extLst>
          </p:cNvPr>
          <p:cNvSpPr/>
          <p:nvPr/>
        </p:nvSpPr>
        <p:spPr>
          <a:xfrm>
            <a:off x="1802880" y="37137155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6">
            <a:extLst>
              <a:ext uri="{FF2B5EF4-FFF2-40B4-BE49-F238E27FC236}">
                <a16:creationId xmlns:a16="http://schemas.microsoft.com/office/drawing/2014/main" id="{C6A41C0C-4624-03DF-6DB8-38661270CE25}"/>
              </a:ext>
            </a:extLst>
          </p:cNvPr>
          <p:cNvSpPr txBox="1"/>
          <p:nvPr/>
        </p:nvSpPr>
        <p:spPr>
          <a:xfrm>
            <a:off x="2036880" y="37015595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150 Jobs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* </a:t>
            </a:r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10 Seeds in Live Evaluation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</a:p>
        </p:txBody>
      </p:sp>
      <p:sp>
        <p:nvSpPr>
          <p:cNvPr id="219" name="TextBox 11">
            <a:extLst>
              <a:ext uri="{FF2B5EF4-FFF2-40B4-BE49-F238E27FC236}">
                <a16:creationId xmlns:a16="http://schemas.microsoft.com/office/drawing/2014/main" id="{CCFE3170-185E-6EF6-5D7C-B75E89FC2DAB}"/>
              </a:ext>
            </a:extLst>
          </p:cNvPr>
          <p:cNvSpPr txBox="1"/>
          <p:nvPr/>
        </p:nvSpPr>
        <p:spPr>
          <a:xfrm>
            <a:off x="21047325" y="33546374"/>
            <a:ext cx="4320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＞</a:t>
            </a:r>
            <a:r>
              <a:rPr lang="en-US" altLang="zh-TW"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POSITIONING</a:t>
            </a:r>
          </a:p>
        </p:txBody>
      </p:sp>
      <p:sp>
        <p:nvSpPr>
          <p:cNvPr id="220" name="TextBox 12">
            <a:extLst>
              <a:ext uri="{FF2B5EF4-FFF2-40B4-BE49-F238E27FC236}">
                <a16:creationId xmlns:a16="http://schemas.microsoft.com/office/drawing/2014/main" id="{ED7F8720-2A41-9D65-DA35-32431A5EA5C2}"/>
              </a:ext>
            </a:extLst>
          </p:cNvPr>
          <p:cNvSpPr txBox="1"/>
          <p:nvPr/>
        </p:nvSpPr>
        <p:spPr>
          <a:xfrm>
            <a:off x="21103875" y="34084047"/>
            <a:ext cx="799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研究定位：</a:t>
            </a:r>
            <a:r>
              <a:rPr 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GPU </a:t>
            </a:r>
            <a:r>
              <a:rPr lang="en-US" sz="320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sharing、placement</a:t>
            </a:r>
            <a:r>
              <a:rPr 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與 </a:t>
            </a:r>
            <a:r>
              <a:rPr 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RL </a:t>
            </a:r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被放進同一條 </a:t>
            </a:r>
            <a:r>
              <a:rPr lang="en-US" sz="320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Slurm</a:t>
            </a:r>
            <a:r>
              <a:rPr 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路徑。</a:t>
            </a:r>
          </a:p>
        </p:txBody>
      </p:sp>
      <p:sp>
        <p:nvSpPr>
          <p:cNvPr id="221" name="Oval 13">
            <a:extLst>
              <a:ext uri="{FF2B5EF4-FFF2-40B4-BE49-F238E27FC236}">
                <a16:creationId xmlns:a16="http://schemas.microsoft.com/office/drawing/2014/main" id="{33DC73CE-E601-BC68-D92B-7264EEEE3C39}"/>
              </a:ext>
            </a:extLst>
          </p:cNvPr>
          <p:cNvSpPr/>
          <p:nvPr/>
        </p:nvSpPr>
        <p:spPr>
          <a:xfrm>
            <a:off x="21351005" y="35638387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TextBox 14">
            <a:extLst>
              <a:ext uri="{FF2B5EF4-FFF2-40B4-BE49-F238E27FC236}">
                <a16:creationId xmlns:a16="http://schemas.microsoft.com/office/drawing/2014/main" id="{1E68B95D-4675-2975-89C9-9A6BAF24B8FB}"/>
              </a:ext>
            </a:extLst>
          </p:cNvPr>
          <p:cNvSpPr txBox="1"/>
          <p:nvPr/>
        </p:nvSpPr>
        <p:spPr>
          <a:xfrm>
            <a:off x="21585005" y="35509207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下一步研究</a:t>
            </a:r>
            <a:endParaRPr lang="en-US" sz="2400" b="0" dirty="0">
              <a:solidFill>
                <a:srgbClr val="F4EFE3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223" name="Oval 15">
            <a:extLst>
              <a:ext uri="{FF2B5EF4-FFF2-40B4-BE49-F238E27FC236}">
                <a16:creationId xmlns:a16="http://schemas.microsoft.com/office/drawing/2014/main" id="{1220D6E7-7EE9-0AC8-C77A-37F5C337C5DC}"/>
              </a:ext>
            </a:extLst>
          </p:cNvPr>
          <p:cNvSpPr/>
          <p:nvPr/>
        </p:nvSpPr>
        <p:spPr>
          <a:xfrm>
            <a:off x="21351005" y="36165247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TextBox 16">
            <a:extLst>
              <a:ext uri="{FF2B5EF4-FFF2-40B4-BE49-F238E27FC236}">
                <a16:creationId xmlns:a16="http://schemas.microsoft.com/office/drawing/2014/main" id="{CE2685C9-C5A3-34BB-4251-FC6A577812D5}"/>
              </a:ext>
            </a:extLst>
          </p:cNvPr>
          <p:cNvSpPr txBox="1"/>
          <p:nvPr/>
        </p:nvSpPr>
        <p:spPr>
          <a:xfrm>
            <a:off x="21585005" y="36043687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更大的叢集部署</a:t>
            </a:r>
            <a:endParaRPr lang="en-US" sz="2400" b="0" dirty="0">
              <a:solidFill>
                <a:srgbClr val="F4EFE3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225" name="Oval 13">
            <a:extLst>
              <a:ext uri="{FF2B5EF4-FFF2-40B4-BE49-F238E27FC236}">
                <a16:creationId xmlns:a16="http://schemas.microsoft.com/office/drawing/2014/main" id="{E0BEDCA6-6FED-5838-CB8A-6CCDC696D7CB}"/>
              </a:ext>
            </a:extLst>
          </p:cNvPr>
          <p:cNvSpPr/>
          <p:nvPr/>
        </p:nvSpPr>
        <p:spPr>
          <a:xfrm>
            <a:off x="21351005" y="36747455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TextBox 14">
            <a:extLst>
              <a:ext uri="{FF2B5EF4-FFF2-40B4-BE49-F238E27FC236}">
                <a16:creationId xmlns:a16="http://schemas.microsoft.com/office/drawing/2014/main" id="{132F18FA-B7A1-7982-F408-115A7B54B971}"/>
              </a:ext>
            </a:extLst>
          </p:cNvPr>
          <p:cNvSpPr txBox="1"/>
          <p:nvPr/>
        </p:nvSpPr>
        <p:spPr>
          <a:xfrm>
            <a:off x="21585005" y="36618275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MIG + MPS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綜合決策</a:t>
            </a:r>
            <a:endParaRPr lang="en-US" sz="2400" b="0" dirty="0">
              <a:solidFill>
                <a:srgbClr val="F4EFE3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227" name="Oval 15">
            <a:extLst>
              <a:ext uri="{FF2B5EF4-FFF2-40B4-BE49-F238E27FC236}">
                <a16:creationId xmlns:a16="http://schemas.microsoft.com/office/drawing/2014/main" id="{E37D3604-9799-A519-B89C-44C076C9812D}"/>
              </a:ext>
            </a:extLst>
          </p:cNvPr>
          <p:cNvSpPr/>
          <p:nvPr/>
        </p:nvSpPr>
        <p:spPr>
          <a:xfrm>
            <a:off x="21351005" y="37274315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TextBox 16">
            <a:extLst>
              <a:ext uri="{FF2B5EF4-FFF2-40B4-BE49-F238E27FC236}">
                <a16:creationId xmlns:a16="http://schemas.microsoft.com/office/drawing/2014/main" id="{5CC66850-81A6-5E1A-FD4A-A93026ADA3FE}"/>
              </a:ext>
            </a:extLst>
          </p:cNvPr>
          <p:cNvSpPr txBox="1"/>
          <p:nvPr/>
        </p:nvSpPr>
        <p:spPr>
          <a:xfrm>
            <a:off x="21585005" y="37152755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功耗能源感知 </a:t>
            </a:r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Reward</a:t>
            </a:r>
            <a:endParaRPr lang="en-US" sz="2400" b="0" dirty="0">
              <a:solidFill>
                <a:srgbClr val="F4EFE3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240" name="TextBox 11">
            <a:extLst>
              <a:ext uri="{FF2B5EF4-FFF2-40B4-BE49-F238E27FC236}">
                <a16:creationId xmlns:a16="http://schemas.microsoft.com/office/drawing/2014/main" id="{B2807C9C-94DB-C6E6-8CE5-B385617E74FD}"/>
              </a:ext>
            </a:extLst>
          </p:cNvPr>
          <p:cNvSpPr txBox="1"/>
          <p:nvPr/>
        </p:nvSpPr>
        <p:spPr>
          <a:xfrm>
            <a:off x="11249769" y="33546374"/>
            <a:ext cx="4320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＞</a:t>
            </a:r>
            <a:r>
              <a:rPr lang="en-US" altLang="zh-TW" sz="2800" dirty="0">
                <a:solidFill>
                  <a:srgbClr val="8EB1CD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CONTRIBUTIONS</a:t>
            </a:r>
          </a:p>
        </p:txBody>
      </p:sp>
      <p:sp>
        <p:nvSpPr>
          <p:cNvPr id="241" name="TextBox 12">
            <a:extLst>
              <a:ext uri="{FF2B5EF4-FFF2-40B4-BE49-F238E27FC236}">
                <a16:creationId xmlns:a16="http://schemas.microsoft.com/office/drawing/2014/main" id="{DE1EE4B4-29ED-0546-64C3-07AA001980BE}"/>
              </a:ext>
            </a:extLst>
          </p:cNvPr>
          <p:cNvSpPr txBox="1"/>
          <p:nvPr/>
        </p:nvSpPr>
        <p:spPr>
          <a:xfrm>
            <a:off x="11306319" y="34084047"/>
            <a:ext cx="79920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320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把學習決策接到可運作的叢集。</a:t>
            </a:r>
          </a:p>
        </p:txBody>
      </p:sp>
      <p:sp>
        <p:nvSpPr>
          <p:cNvPr id="242" name="Oval 13">
            <a:extLst>
              <a:ext uri="{FF2B5EF4-FFF2-40B4-BE49-F238E27FC236}">
                <a16:creationId xmlns:a16="http://schemas.microsoft.com/office/drawing/2014/main" id="{FEE1C46F-EC55-587B-799F-8E8DD773E2F8}"/>
              </a:ext>
            </a:extLst>
          </p:cNvPr>
          <p:cNvSpPr/>
          <p:nvPr/>
        </p:nvSpPr>
        <p:spPr>
          <a:xfrm>
            <a:off x="11553449" y="35501227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TextBox 14">
            <a:extLst>
              <a:ext uri="{FF2B5EF4-FFF2-40B4-BE49-F238E27FC236}">
                <a16:creationId xmlns:a16="http://schemas.microsoft.com/office/drawing/2014/main" id="{9FF14EC5-97EC-2720-2994-753D3E72CC88}"/>
              </a:ext>
            </a:extLst>
          </p:cNvPr>
          <p:cNvSpPr txBox="1"/>
          <p:nvPr/>
        </p:nvSpPr>
        <p:spPr>
          <a:xfrm>
            <a:off x="11787449" y="35372047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聯合動作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：Job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挑選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× GPU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放置</a:t>
            </a:r>
            <a:endParaRPr lang="en-US" sz="2400" b="0" dirty="0">
              <a:solidFill>
                <a:srgbClr val="F4EFE3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244" name="Oval 15">
            <a:extLst>
              <a:ext uri="{FF2B5EF4-FFF2-40B4-BE49-F238E27FC236}">
                <a16:creationId xmlns:a16="http://schemas.microsoft.com/office/drawing/2014/main" id="{338FD3A7-E7EC-40AF-5B7B-444CD97E2023}"/>
              </a:ext>
            </a:extLst>
          </p:cNvPr>
          <p:cNvSpPr/>
          <p:nvPr/>
        </p:nvSpPr>
        <p:spPr>
          <a:xfrm>
            <a:off x="11553449" y="36028087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16">
            <a:extLst>
              <a:ext uri="{FF2B5EF4-FFF2-40B4-BE49-F238E27FC236}">
                <a16:creationId xmlns:a16="http://schemas.microsoft.com/office/drawing/2014/main" id="{CA0BA864-230F-17D3-03EB-CB4B41026E40}"/>
              </a:ext>
            </a:extLst>
          </p:cNvPr>
          <p:cNvSpPr txBox="1"/>
          <p:nvPr/>
        </p:nvSpPr>
        <p:spPr>
          <a:xfrm>
            <a:off x="11787449" y="35906527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Fail-safe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設計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：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逾時即回退至 </a:t>
            </a:r>
            <a:r>
              <a:rPr lang="en-US" altLang="zh-TW"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Slurm</a:t>
            </a:r>
            <a:endParaRPr lang="zh-TW" altLang="en-US" sz="2400" b="0" dirty="0">
              <a:solidFill>
                <a:srgbClr val="F4EFE3"/>
              </a:solidFill>
              <a:latin typeface="萍方-繁 中粗體" panose="020B0704020202020204" pitchFamily="34" charset="-120"/>
              <a:ea typeface="萍方-繁 中粗體" panose="020B0704020202020204" pitchFamily="34" charset="-120"/>
            </a:endParaRPr>
          </a:p>
        </p:txBody>
      </p:sp>
      <p:sp>
        <p:nvSpPr>
          <p:cNvPr id="246" name="Oval 13">
            <a:extLst>
              <a:ext uri="{FF2B5EF4-FFF2-40B4-BE49-F238E27FC236}">
                <a16:creationId xmlns:a16="http://schemas.microsoft.com/office/drawing/2014/main" id="{B48D74C4-50DA-7EB5-96C4-1F67EBE0570C}"/>
              </a:ext>
            </a:extLst>
          </p:cNvPr>
          <p:cNvSpPr/>
          <p:nvPr/>
        </p:nvSpPr>
        <p:spPr>
          <a:xfrm>
            <a:off x="11553449" y="36610295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TextBox 14">
            <a:extLst>
              <a:ext uri="{FF2B5EF4-FFF2-40B4-BE49-F238E27FC236}">
                <a16:creationId xmlns:a16="http://schemas.microsoft.com/office/drawing/2014/main" id="{510C34AC-A4DC-8CD4-AF80-77B6B2C37BA8}"/>
              </a:ext>
            </a:extLst>
          </p:cNvPr>
          <p:cNvSpPr txBox="1"/>
          <p:nvPr/>
        </p:nvSpPr>
        <p:spPr>
          <a:xfrm>
            <a:off x="11787449" y="36481115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真實 </a:t>
            </a:r>
            <a:r>
              <a:rPr lang="en-US" altLang="zh-TW"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Slurm</a:t>
            </a:r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+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異質 </a:t>
            </a:r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GPU + MPS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驗證</a:t>
            </a:r>
          </a:p>
        </p:txBody>
      </p:sp>
      <p:sp>
        <p:nvSpPr>
          <p:cNvPr id="250" name="Oval 13">
            <a:extLst>
              <a:ext uri="{FF2B5EF4-FFF2-40B4-BE49-F238E27FC236}">
                <a16:creationId xmlns:a16="http://schemas.microsoft.com/office/drawing/2014/main" id="{9BCB80E4-B7A1-8116-2E4D-0B11EBE05EF4}"/>
              </a:ext>
            </a:extLst>
          </p:cNvPr>
          <p:cNvSpPr/>
          <p:nvPr/>
        </p:nvSpPr>
        <p:spPr>
          <a:xfrm>
            <a:off x="1802880" y="27686673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14">
            <a:extLst>
              <a:ext uri="{FF2B5EF4-FFF2-40B4-BE49-F238E27FC236}">
                <a16:creationId xmlns:a16="http://schemas.microsoft.com/office/drawing/2014/main" id="{C8EF0E38-8A2D-C356-E1DE-626C960E04B0}"/>
              </a:ext>
            </a:extLst>
          </p:cNvPr>
          <p:cNvSpPr txBox="1"/>
          <p:nvPr/>
        </p:nvSpPr>
        <p:spPr>
          <a:xfrm>
            <a:off x="2036880" y="27557493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Slurm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submission path </a:t>
            </a:r>
            <a:r>
              <a:rPr lang="en-US"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plugin：不修改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lang="en-US"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Slurm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core</a:t>
            </a:r>
          </a:p>
        </p:txBody>
      </p:sp>
      <p:sp>
        <p:nvSpPr>
          <p:cNvPr id="252" name="Oval 15">
            <a:extLst>
              <a:ext uri="{FF2B5EF4-FFF2-40B4-BE49-F238E27FC236}">
                <a16:creationId xmlns:a16="http://schemas.microsoft.com/office/drawing/2014/main" id="{B3F687C9-8604-FD54-16A8-837478D55C15}"/>
              </a:ext>
            </a:extLst>
          </p:cNvPr>
          <p:cNvSpPr/>
          <p:nvPr/>
        </p:nvSpPr>
        <p:spPr>
          <a:xfrm>
            <a:off x="1802880" y="28213533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TextBox 16">
            <a:extLst>
              <a:ext uri="{FF2B5EF4-FFF2-40B4-BE49-F238E27FC236}">
                <a16:creationId xmlns:a16="http://schemas.microsoft.com/office/drawing/2014/main" id="{BABD90FD-A039-5822-78B3-9B9C551D3C55}"/>
              </a:ext>
            </a:extLst>
          </p:cNvPr>
          <p:cNvSpPr txBox="1"/>
          <p:nvPr/>
        </p:nvSpPr>
        <p:spPr>
          <a:xfrm>
            <a:off x="2036880" y="28091973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K3s、DRA、MPS、monitoring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以 </a:t>
            </a:r>
            <a:r>
              <a:rPr 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Helm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部署</a:t>
            </a:r>
          </a:p>
        </p:txBody>
      </p:sp>
      <p:sp>
        <p:nvSpPr>
          <p:cNvPr id="254" name="Oval 13">
            <a:extLst>
              <a:ext uri="{FF2B5EF4-FFF2-40B4-BE49-F238E27FC236}">
                <a16:creationId xmlns:a16="http://schemas.microsoft.com/office/drawing/2014/main" id="{7059DC0D-62CF-AD9C-4E4F-0774B8D047C0}"/>
              </a:ext>
            </a:extLst>
          </p:cNvPr>
          <p:cNvSpPr/>
          <p:nvPr/>
        </p:nvSpPr>
        <p:spPr>
          <a:xfrm>
            <a:off x="1802880" y="28795741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TextBox 14">
            <a:extLst>
              <a:ext uri="{FF2B5EF4-FFF2-40B4-BE49-F238E27FC236}">
                <a16:creationId xmlns:a16="http://schemas.microsoft.com/office/drawing/2014/main" id="{D2AD84BE-6C0F-4AC1-6D21-0E639A91828A}"/>
              </a:ext>
            </a:extLst>
          </p:cNvPr>
          <p:cNvSpPr txBox="1"/>
          <p:nvPr/>
        </p:nvSpPr>
        <p:spPr>
          <a:xfrm>
            <a:off x="2036880" y="28666561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959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次決策：</a:t>
            </a:r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88% RL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主導，</a:t>
            </a:r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12%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低信心回退</a:t>
            </a:r>
          </a:p>
        </p:txBody>
      </p:sp>
      <p:sp>
        <p:nvSpPr>
          <p:cNvPr id="256" name="Oval 15">
            <a:extLst>
              <a:ext uri="{FF2B5EF4-FFF2-40B4-BE49-F238E27FC236}">
                <a16:creationId xmlns:a16="http://schemas.microsoft.com/office/drawing/2014/main" id="{917C2DCB-7F92-05D6-E88C-F315F30FA6D3}"/>
              </a:ext>
            </a:extLst>
          </p:cNvPr>
          <p:cNvSpPr/>
          <p:nvPr/>
        </p:nvSpPr>
        <p:spPr>
          <a:xfrm>
            <a:off x="1802880" y="29322601"/>
            <a:ext cx="115200" cy="115200"/>
          </a:xfrm>
          <a:prstGeom prst="ellipse">
            <a:avLst/>
          </a:prstGeom>
          <a:solidFill>
            <a:srgbClr val="5B8FBE"/>
          </a:solidFill>
          <a:ln>
            <a:solidFill>
              <a:srgbClr val="5B8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TextBox 16">
            <a:extLst>
              <a:ext uri="{FF2B5EF4-FFF2-40B4-BE49-F238E27FC236}">
                <a16:creationId xmlns:a16="http://schemas.microsoft.com/office/drawing/2014/main" id="{859D5E75-9871-C312-73AC-A0E9FC646C7C}"/>
              </a:ext>
            </a:extLst>
          </p:cNvPr>
          <p:cNvSpPr txBox="1"/>
          <p:nvPr/>
        </p:nvSpPr>
        <p:spPr>
          <a:xfrm>
            <a:off x="2036880" y="29201041"/>
            <a:ext cx="7614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P99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決策延遲 </a:t>
            </a:r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0.27 </a:t>
            </a:r>
            <a:r>
              <a:rPr lang="en-US" altLang="zh-TW"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ms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；最大 </a:t>
            </a:r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7.2 </a:t>
            </a:r>
            <a:r>
              <a:rPr lang="en-US" altLang="zh-TW"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ms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，無 </a:t>
            </a:r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150 </a:t>
            </a:r>
            <a:r>
              <a:rPr lang="en-US" altLang="zh-TW" sz="2400" b="0" dirty="0" err="1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ms</a:t>
            </a:r>
            <a:r>
              <a:rPr lang="en-US" altLang="zh-TW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 </a:t>
            </a:r>
            <a:r>
              <a:rPr lang="zh-TW" altLang="en-US" sz="2400" b="0" dirty="0">
                <a:solidFill>
                  <a:srgbClr val="F4EFE3"/>
                </a:solidFill>
                <a:latin typeface="萍方-繁 中粗體" panose="020B0704020202020204" pitchFamily="34" charset="-120"/>
                <a:ea typeface="萍方-繁 中粗體" panose="020B0704020202020204" pitchFamily="34" charset="-120"/>
              </a:rPr>
              <a:t>逾時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414</Words>
  <Application>Microsoft Office PowerPoint</Application>
  <PresentationFormat>自訂</PresentationFormat>
  <Paragraphs>88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9" baseType="lpstr">
      <vt:lpstr>jf金萱 七分糖</vt:lpstr>
      <vt:lpstr>Noto Sans CJK TC</vt:lpstr>
      <vt:lpstr>萍方-繁 中粗體</vt:lpstr>
      <vt:lpstr>Arial</vt:lpstr>
      <vt:lpstr>Calibri</vt:lpstr>
      <vt:lpstr>Geist SemiBold</vt:lpstr>
      <vt:lpstr>Neue Power Heavy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珽升 鄭</cp:lastModifiedBy>
  <cp:revision>62</cp:revision>
  <dcterms:created xsi:type="dcterms:W3CDTF">2013-01-27T09:14:16Z</dcterms:created>
  <dcterms:modified xsi:type="dcterms:W3CDTF">2026-09-15T08:49:12Z</dcterms:modified>
  <cp:category/>
</cp:coreProperties>
</file>